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8288000" cy="10287000"/>
  <p:notesSz cx="6858000" cy="9144000"/>
  <p:embeddedFontLst>
    <p:embeddedFont>
      <p:font typeface="Noto Sans Osage" panose="020F0502020204030204" pitchFamily="34" charset="0"/>
      <p:regular r:id="rId25"/>
    </p:embeddedFont>
    <p:embeddedFont>
      <p:font typeface="Open Sans" panose="020B0606030504020204" pitchFamily="34" charset="0"/>
      <p:regular r:id="rId26"/>
    </p:embeddedFont>
    <p:embeddedFont>
      <p:font typeface="Open Sans Bold" panose="020B0604020202020204" charset="0"/>
      <p:regular r:id="rId27"/>
    </p:embeddedFont>
    <p:embeddedFont>
      <p:font typeface="Open Sans Semi-Bold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106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peironengg.com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24.svg"/><Relationship Id="rId21" Type="http://schemas.openxmlformats.org/officeDocument/2006/relationships/image" Target="../media/image42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38.svg"/><Relationship Id="rId25" Type="http://schemas.openxmlformats.org/officeDocument/2006/relationships/image" Target="../media/image46.sv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24" Type="http://schemas.openxmlformats.org/officeDocument/2006/relationships/image" Target="../media/image45.pn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23" Type="http://schemas.openxmlformats.org/officeDocument/2006/relationships/image" Target="../media/image44.svg"/><Relationship Id="rId28" Type="http://schemas.openxmlformats.org/officeDocument/2006/relationships/image" Target="../media/image1.png"/><Relationship Id="rId10" Type="http://schemas.openxmlformats.org/officeDocument/2006/relationships/image" Target="../media/image31.png"/><Relationship Id="rId19" Type="http://schemas.openxmlformats.org/officeDocument/2006/relationships/image" Target="../media/image40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1.png"/><Relationship Id="rId10" Type="http://schemas.openxmlformats.org/officeDocument/2006/relationships/image" Target="../media/image57.svg"/><Relationship Id="rId4" Type="http://schemas.openxmlformats.org/officeDocument/2006/relationships/image" Target="../media/image51.svg"/><Relationship Id="rId9" Type="http://schemas.openxmlformats.org/officeDocument/2006/relationships/image" Target="../media/image56.png"/><Relationship Id="rId14" Type="http://schemas.openxmlformats.org/officeDocument/2006/relationships/image" Target="../media/image61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svg"/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12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svg"/><Relationship Id="rId5" Type="http://schemas.openxmlformats.org/officeDocument/2006/relationships/image" Target="../media/image65.sv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svg"/><Relationship Id="rId1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svg"/><Relationship Id="rId3" Type="http://schemas.openxmlformats.org/officeDocument/2006/relationships/image" Target="../media/image63.svg"/><Relationship Id="rId7" Type="http://schemas.openxmlformats.org/officeDocument/2006/relationships/image" Target="../media/image67.svg"/><Relationship Id="rId12" Type="http://schemas.openxmlformats.org/officeDocument/2006/relationships/image" Target="../media/image72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svg"/><Relationship Id="rId5" Type="http://schemas.openxmlformats.org/officeDocument/2006/relationships/image" Target="../media/image65.sv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svg"/><Relationship Id="rId1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94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5" Type="http://schemas.openxmlformats.org/officeDocument/2006/relationships/image" Target="../media/image1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10" Type="http://schemas.openxmlformats.org/officeDocument/2006/relationships/image" Target="../media/image1.png"/><Relationship Id="rId4" Type="http://schemas.openxmlformats.org/officeDocument/2006/relationships/image" Target="../media/image99.png"/><Relationship Id="rId9" Type="http://schemas.openxmlformats.org/officeDocument/2006/relationships/image" Target="../media/image2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624779"/>
            <a:ext cx="12531991" cy="222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9"/>
              </a:lnSpc>
              <a:spcBef>
                <a:spcPct val="0"/>
              </a:spcBef>
            </a:pPr>
            <a:r>
              <a:rPr lang="en-US" sz="640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Engineering Excellence With Uncompromising Safety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8918649"/>
            <a:ext cx="4077715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u="sng">
                <a:solidFill>
                  <a:srgbClr val="130E0C"/>
                </a:solidFill>
                <a:latin typeface="Open Sans"/>
                <a:ea typeface="Open Sans"/>
                <a:cs typeface="Open Sans"/>
                <a:sym typeface="Open Sans"/>
                <a:hlinkClick r:id="rId2" tooltip="https://apeironengg.com"/>
              </a:rPr>
              <a:t>www.apeironengg.com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6463846"/>
            <a:ext cx="9495457" cy="692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>
                <a:solidFill>
                  <a:srgbClr val="0F7945"/>
                </a:solidFill>
                <a:latin typeface="Open Sans"/>
                <a:ea typeface="Open Sans"/>
                <a:cs typeface="Open Sans"/>
                <a:sym typeface="Open Sans"/>
              </a:rPr>
              <a:t>Pioneering the future of engineering through digital transformation, grounded in culture of safety and resilience.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1021449"/>
            <a:ext cx="3026610" cy="563464"/>
            <a:chOff x="0" y="0"/>
            <a:chExt cx="4035480" cy="7512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  <p:sp>
        <p:nvSpPr>
          <p:cNvPr id="8" name="Freeform 8"/>
          <p:cNvSpPr/>
          <p:nvPr/>
        </p:nvSpPr>
        <p:spPr>
          <a:xfrm rot="-5784780">
            <a:off x="4366103" y="-1330740"/>
            <a:ext cx="16849190" cy="13846971"/>
          </a:xfrm>
          <a:custGeom>
            <a:avLst/>
            <a:gdLst/>
            <a:ahLst/>
            <a:cxnLst/>
            <a:rect l="l" t="t" r="r" b="b"/>
            <a:pathLst>
              <a:path w="16849190" h="13846971">
                <a:moveTo>
                  <a:pt x="0" y="0"/>
                </a:moveTo>
                <a:lnTo>
                  <a:pt x="16849190" y="0"/>
                </a:lnTo>
                <a:lnTo>
                  <a:pt x="16849190" y="13846972"/>
                </a:lnTo>
                <a:lnTo>
                  <a:pt x="0" y="138469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79">
            <a:extLst>
              <a:ext uri="{FF2B5EF4-FFF2-40B4-BE49-F238E27FC236}">
                <a16:creationId xmlns:a16="http://schemas.microsoft.com/office/drawing/2014/main" id="{248B15D6-4A7C-4803-8166-56EBE17B27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83348" y="2551405"/>
            <a:ext cx="12922586" cy="6390806"/>
          </a:xfrm>
          <a:custGeom>
            <a:avLst/>
            <a:gdLst/>
            <a:ahLst/>
            <a:cxnLst/>
            <a:rect l="l" t="t" r="r" b="b"/>
            <a:pathLst>
              <a:path w="12922586" h="6390806">
                <a:moveTo>
                  <a:pt x="0" y="0"/>
                </a:moveTo>
                <a:lnTo>
                  <a:pt x="12922587" y="0"/>
                </a:lnTo>
                <a:lnTo>
                  <a:pt x="12922587" y="6390807"/>
                </a:lnTo>
                <a:lnTo>
                  <a:pt x="0" y="6390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2638646" y="4189721"/>
            <a:ext cx="1860645" cy="32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sz="1820" spc="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Oregon, USA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442178" y="7126387"/>
            <a:ext cx="1860645" cy="32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sz="1820" spc="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Vitoria, Brazil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98609" y="4009309"/>
            <a:ext cx="737168" cy="32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sz="1820" spc="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Iraq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215861" y="5978430"/>
            <a:ext cx="737168" cy="32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sz="1820" spc="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150152" y="6850338"/>
            <a:ext cx="1341591" cy="32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sz="1820" spc="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Singapore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28700" y="7777601"/>
            <a:ext cx="3796518" cy="1956949"/>
            <a:chOff x="0" y="0"/>
            <a:chExt cx="1210708" cy="6240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0708" cy="624071"/>
            </a:xfrm>
            <a:custGeom>
              <a:avLst/>
              <a:gdLst/>
              <a:ahLst/>
              <a:cxnLst/>
              <a:rect l="l" t="t" r="r" b="b"/>
              <a:pathLst>
                <a:path w="1210708" h="624071">
                  <a:moveTo>
                    <a:pt x="0" y="0"/>
                  </a:moveTo>
                  <a:lnTo>
                    <a:pt x="1210708" y="0"/>
                  </a:lnTo>
                  <a:lnTo>
                    <a:pt x="1210708" y="624071"/>
                  </a:lnTo>
                  <a:lnTo>
                    <a:pt x="0" y="624071"/>
                  </a:lnTo>
                  <a:close/>
                </a:path>
              </a:pathLst>
            </a:custGeom>
            <a:solidFill>
              <a:srgbClr val="E9F8D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210708" cy="652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7777601"/>
            <a:ext cx="4027472" cy="666373"/>
            <a:chOff x="0" y="0"/>
            <a:chExt cx="2788526" cy="46138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788526" cy="461381"/>
            </a:xfrm>
            <a:custGeom>
              <a:avLst/>
              <a:gdLst/>
              <a:ahLst/>
              <a:cxnLst/>
              <a:rect l="l" t="t" r="r" b="b"/>
              <a:pathLst>
                <a:path w="2788526" h="461381">
                  <a:moveTo>
                    <a:pt x="2585326" y="0"/>
                  </a:moveTo>
                  <a:lnTo>
                    <a:pt x="0" y="0"/>
                  </a:lnTo>
                  <a:lnTo>
                    <a:pt x="0" y="461381"/>
                  </a:lnTo>
                  <a:lnTo>
                    <a:pt x="2585326" y="461381"/>
                  </a:lnTo>
                  <a:lnTo>
                    <a:pt x="2788526" y="230691"/>
                  </a:lnTo>
                  <a:lnTo>
                    <a:pt x="2585326" y="0"/>
                  </a:lnTo>
                  <a:close/>
                </a:path>
              </a:pathLst>
            </a:custGeom>
            <a:solidFill>
              <a:srgbClr val="B2E15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674226" cy="489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Global Capability Summary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4499291" y="4099746"/>
            <a:ext cx="325927" cy="551251"/>
          </a:xfrm>
          <a:custGeom>
            <a:avLst/>
            <a:gdLst/>
            <a:ahLst/>
            <a:cxnLst/>
            <a:rect l="l" t="t" r="r" b="b"/>
            <a:pathLst>
              <a:path w="325927" h="551251">
                <a:moveTo>
                  <a:pt x="0" y="0"/>
                </a:moveTo>
                <a:lnTo>
                  <a:pt x="325927" y="0"/>
                </a:lnTo>
                <a:lnTo>
                  <a:pt x="325927" y="551250"/>
                </a:lnTo>
                <a:lnTo>
                  <a:pt x="0" y="55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4305341" y="1028700"/>
            <a:ext cx="10003246" cy="774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8"/>
              </a:lnSpc>
            </a:pPr>
            <a:r>
              <a:rPr lang="en-US" sz="5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International Footprint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5912" y="8589863"/>
            <a:ext cx="3429306" cy="790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475" lvl="1" indent="-164237" algn="l">
              <a:lnSpc>
                <a:spcPts val="2129"/>
              </a:lnSpc>
              <a:buFont typeface="Arial"/>
              <a:buChar char="•"/>
            </a:pPr>
            <a:r>
              <a:rPr lang="en-US" sz="1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Active across 9 countries​</a:t>
            </a:r>
          </a:p>
          <a:p>
            <a:pPr marL="328475" lvl="1" indent="-164237" algn="l">
              <a:lnSpc>
                <a:spcPts val="2129"/>
              </a:lnSpc>
              <a:buFont typeface="Arial"/>
              <a:buChar char="•"/>
            </a:pPr>
            <a:r>
              <a:rPr lang="en-US" sz="1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Enabling global project execution​</a:t>
            </a:r>
          </a:p>
          <a:p>
            <a:pPr marL="328475" lvl="1" indent="-164237" algn="l">
              <a:lnSpc>
                <a:spcPts val="2129"/>
              </a:lnSpc>
              <a:buFont typeface="Arial"/>
              <a:buChar char="•"/>
            </a:pPr>
            <a:r>
              <a:rPr lang="en-US" sz="152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Local support and compliance​</a:t>
            </a:r>
          </a:p>
        </p:txBody>
      </p:sp>
      <p:sp>
        <p:nvSpPr>
          <p:cNvPr id="17" name="Freeform 17"/>
          <p:cNvSpPr/>
          <p:nvPr/>
        </p:nvSpPr>
        <p:spPr>
          <a:xfrm>
            <a:off x="7107924" y="7035987"/>
            <a:ext cx="325927" cy="551251"/>
          </a:xfrm>
          <a:custGeom>
            <a:avLst/>
            <a:gdLst/>
            <a:ahLst/>
            <a:cxnLst/>
            <a:rect l="l" t="t" r="r" b="b"/>
            <a:pathLst>
              <a:path w="325927" h="551251">
                <a:moveTo>
                  <a:pt x="0" y="0"/>
                </a:moveTo>
                <a:lnTo>
                  <a:pt x="325927" y="0"/>
                </a:lnTo>
                <a:lnTo>
                  <a:pt x="325927" y="551251"/>
                </a:lnTo>
                <a:lnTo>
                  <a:pt x="0" y="551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1104229" y="4413692"/>
            <a:ext cx="325927" cy="551251"/>
          </a:xfrm>
          <a:custGeom>
            <a:avLst/>
            <a:gdLst/>
            <a:ahLst/>
            <a:cxnLst/>
            <a:rect l="l" t="t" r="r" b="b"/>
            <a:pathLst>
              <a:path w="325927" h="551251">
                <a:moveTo>
                  <a:pt x="0" y="0"/>
                </a:moveTo>
                <a:lnTo>
                  <a:pt x="325927" y="0"/>
                </a:lnTo>
                <a:lnTo>
                  <a:pt x="325927" y="551251"/>
                </a:lnTo>
                <a:lnTo>
                  <a:pt x="0" y="551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2421481" y="5242443"/>
            <a:ext cx="325927" cy="551251"/>
          </a:xfrm>
          <a:custGeom>
            <a:avLst/>
            <a:gdLst/>
            <a:ahLst/>
            <a:cxnLst/>
            <a:rect l="l" t="t" r="r" b="b"/>
            <a:pathLst>
              <a:path w="325927" h="551251">
                <a:moveTo>
                  <a:pt x="0" y="0"/>
                </a:moveTo>
                <a:lnTo>
                  <a:pt x="325927" y="0"/>
                </a:lnTo>
                <a:lnTo>
                  <a:pt x="325927" y="551250"/>
                </a:lnTo>
                <a:lnTo>
                  <a:pt x="0" y="55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3604490" y="6112093"/>
            <a:ext cx="325927" cy="551251"/>
          </a:xfrm>
          <a:custGeom>
            <a:avLst/>
            <a:gdLst/>
            <a:ahLst/>
            <a:cxnLst/>
            <a:rect l="l" t="t" r="r" b="b"/>
            <a:pathLst>
              <a:path w="325927" h="551251">
                <a:moveTo>
                  <a:pt x="0" y="0"/>
                </a:moveTo>
                <a:lnTo>
                  <a:pt x="325927" y="0"/>
                </a:lnTo>
                <a:lnTo>
                  <a:pt x="325927" y="551251"/>
                </a:lnTo>
                <a:lnTo>
                  <a:pt x="0" y="5512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TextBox 21"/>
          <p:cNvSpPr txBox="1"/>
          <p:nvPr/>
        </p:nvSpPr>
        <p:spPr>
          <a:xfrm>
            <a:off x="7270888" y="5788345"/>
            <a:ext cx="1860645" cy="32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  <a:spcBef>
                <a:spcPct val="0"/>
              </a:spcBef>
            </a:pPr>
            <a:r>
              <a:rPr lang="en-US" sz="1820" spc="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Guyana</a:t>
            </a:r>
          </a:p>
        </p:txBody>
      </p:sp>
      <p:sp>
        <p:nvSpPr>
          <p:cNvPr id="22" name="Freeform 22"/>
          <p:cNvSpPr/>
          <p:nvPr/>
        </p:nvSpPr>
        <p:spPr>
          <a:xfrm>
            <a:off x="6780461" y="5746809"/>
            <a:ext cx="325927" cy="551251"/>
          </a:xfrm>
          <a:custGeom>
            <a:avLst/>
            <a:gdLst/>
            <a:ahLst/>
            <a:cxnLst/>
            <a:rect l="l" t="t" r="r" b="b"/>
            <a:pathLst>
              <a:path w="325927" h="551251">
                <a:moveTo>
                  <a:pt x="0" y="0"/>
                </a:moveTo>
                <a:lnTo>
                  <a:pt x="325927" y="0"/>
                </a:lnTo>
                <a:lnTo>
                  <a:pt x="325927" y="551250"/>
                </a:lnTo>
                <a:lnTo>
                  <a:pt x="0" y="55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8201210" y="3914059"/>
            <a:ext cx="737168" cy="32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sz="1820" spc="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Spain</a:t>
            </a:r>
          </a:p>
        </p:txBody>
      </p:sp>
      <p:sp>
        <p:nvSpPr>
          <p:cNvPr id="24" name="Freeform 24"/>
          <p:cNvSpPr/>
          <p:nvPr/>
        </p:nvSpPr>
        <p:spPr>
          <a:xfrm>
            <a:off x="8981037" y="3824121"/>
            <a:ext cx="325927" cy="551251"/>
          </a:xfrm>
          <a:custGeom>
            <a:avLst/>
            <a:gdLst/>
            <a:ahLst/>
            <a:cxnLst/>
            <a:rect l="l" t="t" r="r" b="b"/>
            <a:pathLst>
              <a:path w="325927" h="551251">
                <a:moveTo>
                  <a:pt x="0" y="0"/>
                </a:moveTo>
                <a:lnTo>
                  <a:pt x="325926" y="0"/>
                </a:lnTo>
                <a:lnTo>
                  <a:pt x="325926" y="551250"/>
                </a:lnTo>
                <a:lnTo>
                  <a:pt x="0" y="55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5" name="Freeform 25"/>
          <p:cNvSpPr/>
          <p:nvPr/>
        </p:nvSpPr>
        <p:spPr>
          <a:xfrm>
            <a:off x="11524055" y="4761531"/>
            <a:ext cx="325927" cy="551251"/>
          </a:xfrm>
          <a:custGeom>
            <a:avLst/>
            <a:gdLst/>
            <a:ahLst/>
            <a:cxnLst/>
            <a:rect l="l" t="t" r="r" b="b"/>
            <a:pathLst>
              <a:path w="325927" h="551251">
                <a:moveTo>
                  <a:pt x="0" y="0"/>
                </a:moveTo>
                <a:lnTo>
                  <a:pt x="325926" y="0"/>
                </a:lnTo>
                <a:lnTo>
                  <a:pt x="325926" y="551251"/>
                </a:lnTo>
                <a:lnTo>
                  <a:pt x="0" y="551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TextBox 26"/>
          <p:cNvSpPr txBox="1"/>
          <p:nvPr/>
        </p:nvSpPr>
        <p:spPr>
          <a:xfrm>
            <a:off x="11926181" y="4772899"/>
            <a:ext cx="737168" cy="32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5"/>
              </a:lnSpc>
              <a:spcBef>
                <a:spcPct val="0"/>
              </a:spcBef>
            </a:pPr>
            <a:r>
              <a:rPr lang="en-US" sz="1820" spc="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UAE</a:t>
            </a:r>
          </a:p>
        </p:txBody>
      </p:sp>
      <p:sp>
        <p:nvSpPr>
          <p:cNvPr id="27" name="Freeform 27"/>
          <p:cNvSpPr/>
          <p:nvPr/>
        </p:nvSpPr>
        <p:spPr>
          <a:xfrm>
            <a:off x="11198128" y="4789021"/>
            <a:ext cx="325927" cy="551251"/>
          </a:xfrm>
          <a:custGeom>
            <a:avLst/>
            <a:gdLst/>
            <a:ahLst/>
            <a:cxnLst/>
            <a:rect l="l" t="t" r="r" b="b"/>
            <a:pathLst>
              <a:path w="325927" h="551251">
                <a:moveTo>
                  <a:pt x="0" y="0"/>
                </a:moveTo>
                <a:lnTo>
                  <a:pt x="325927" y="0"/>
                </a:lnTo>
                <a:lnTo>
                  <a:pt x="325927" y="551251"/>
                </a:lnTo>
                <a:lnTo>
                  <a:pt x="0" y="551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10422103" y="4918694"/>
            <a:ext cx="797151" cy="323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5"/>
              </a:lnSpc>
              <a:spcBef>
                <a:spcPct val="0"/>
              </a:spcBef>
            </a:pPr>
            <a:r>
              <a:rPr lang="en-US" sz="1820" spc="5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Oman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1F434C9E-51F9-E695-D47D-D9D04F4F2E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01713" y="717279"/>
            <a:ext cx="8884573" cy="880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 spc="-24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Solutions &amp; Services</a:t>
            </a:r>
          </a:p>
        </p:txBody>
      </p:sp>
      <p:sp>
        <p:nvSpPr>
          <p:cNvPr id="3" name="Freeform 3"/>
          <p:cNvSpPr/>
          <p:nvPr/>
        </p:nvSpPr>
        <p:spPr>
          <a:xfrm>
            <a:off x="1028700" y="1998184"/>
            <a:ext cx="2969232" cy="1305551"/>
          </a:xfrm>
          <a:custGeom>
            <a:avLst/>
            <a:gdLst/>
            <a:ahLst/>
            <a:cxnLst/>
            <a:rect l="l" t="t" r="r" b="b"/>
            <a:pathLst>
              <a:path w="2969232" h="1305551">
                <a:moveTo>
                  <a:pt x="0" y="0"/>
                </a:moveTo>
                <a:lnTo>
                  <a:pt x="2969232" y="0"/>
                </a:lnTo>
                <a:lnTo>
                  <a:pt x="2969232" y="1305550"/>
                </a:lnTo>
                <a:lnTo>
                  <a:pt x="0" y="1305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448507" y="2403605"/>
            <a:ext cx="1879712" cy="47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42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OT/ICS​</a:t>
            </a:r>
          </a:p>
          <a:p>
            <a:pPr algn="ctr">
              <a:lnSpc>
                <a:spcPts val="1998"/>
              </a:lnSpc>
            </a:pPr>
            <a:r>
              <a:rPr lang="en-US" sz="142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CYBERSECURITY​</a:t>
            </a:r>
          </a:p>
        </p:txBody>
      </p:sp>
      <p:sp>
        <p:nvSpPr>
          <p:cNvPr id="5" name="Freeform 5"/>
          <p:cNvSpPr/>
          <p:nvPr/>
        </p:nvSpPr>
        <p:spPr>
          <a:xfrm>
            <a:off x="4186327" y="1998184"/>
            <a:ext cx="2969232" cy="1305551"/>
          </a:xfrm>
          <a:custGeom>
            <a:avLst/>
            <a:gdLst/>
            <a:ahLst/>
            <a:cxnLst/>
            <a:rect l="l" t="t" r="r" b="b"/>
            <a:pathLst>
              <a:path w="2969232" h="1305551">
                <a:moveTo>
                  <a:pt x="0" y="0"/>
                </a:moveTo>
                <a:lnTo>
                  <a:pt x="2969232" y="0"/>
                </a:lnTo>
                <a:lnTo>
                  <a:pt x="2969232" y="1305550"/>
                </a:lnTo>
                <a:lnTo>
                  <a:pt x="0" y="13055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4606134" y="2403605"/>
            <a:ext cx="1879712" cy="47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42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FUNCTIONAL​</a:t>
            </a:r>
          </a:p>
          <a:p>
            <a:pPr algn="ctr">
              <a:lnSpc>
                <a:spcPts val="1998"/>
              </a:lnSpc>
            </a:pPr>
            <a:r>
              <a:rPr lang="en-US" sz="142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SAFETY​</a:t>
            </a:r>
          </a:p>
        </p:txBody>
      </p:sp>
      <p:sp>
        <p:nvSpPr>
          <p:cNvPr id="7" name="Freeform 7"/>
          <p:cNvSpPr/>
          <p:nvPr/>
        </p:nvSpPr>
        <p:spPr>
          <a:xfrm>
            <a:off x="7342508" y="1998184"/>
            <a:ext cx="2969232" cy="1305551"/>
          </a:xfrm>
          <a:custGeom>
            <a:avLst/>
            <a:gdLst/>
            <a:ahLst/>
            <a:cxnLst/>
            <a:rect l="l" t="t" r="r" b="b"/>
            <a:pathLst>
              <a:path w="2969232" h="1305551">
                <a:moveTo>
                  <a:pt x="0" y="0"/>
                </a:moveTo>
                <a:lnTo>
                  <a:pt x="2969232" y="0"/>
                </a:lnTo>
                <a:lnTo>
                  <a:pt x="2969232" y="1305550"/>
                </a:lnTo>
                <a:lnTo>
                  <a:pt x="0" y="1305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/>
          <p:cNvSpPr txBox="1"/>
          <p:nvPr/>
        </p:nvSpPr>
        <p:spPr>
          <a:xfrm>
            <a:off x="7762315" y="2403605"/>
            <a:ext cx="1879712" cy="47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42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ELECTRICAL &amp;​</a:t>
            </a:r>
          </a:p>
          <a:p>
            <a:pPr algn="ctr">
              <a:lnSpc>
                <a:spcPts val="1998"/>
              </a:lnSpc>
            </a:pPr>
            <a:r>
              <a:rPr lang="en-US" sz="142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INSTRUMENTATION​</a:t>
            </a:r>
          </a:p>
        </p:txBody>
      </p:sp>
      <p:sp>
        <p:nvSpPr>
          <p:cNvPr id="9" name="Freeform 9"/>
          <p:cNvSpPr/>
          <p:nvPr/>
        </p:nvSpPr>
        <p:spPr>
          <a:xfrm>
            <a:off x="10654965" y="1998184"/>
            <a:ext cx="2969232" cy="1305551"/>
          </a:xfrm>
          <a:custGeom>
            <a:avLst/>
            <a:gdLst/>
            <a:ahLst/>
            <a:cxnLst/>
            <a:rect l="l" t="t" r="r" b="b"/>
            <a:pathLst>
              <a:path w="2969232" h="1305551">
                <a:moveTo>
                  <a:pt x="0" y="0"/>
                </a:moveTo>
                <a:lnTo>
                  <a:pt x="2969233" y="0"/>
                </a:lnTo>
                <a:lnTo>
                  <a:pt x="2969233" y="1305550"/>
                </a:lnTo>
                <a:lnTo>
                  <a:pt x="0" y="13055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1074773" y="2403605"/>
            <a:ext cx="1718642" cy="47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42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CONTROL​ SYSTEM​</a:t>
            </a:r>
          </a:p>
          <a:p>
            <a:pPr algn="ctr">
              <a:lnSpc>
                <a:spcPts val="1998"/>
              </a:lnSpc>
            </a:pPr>
            <a:r>
              <a:rPr lang="en-US" sz="142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INTEGRATION​</a:t>
            </a:r>
          </a:p>
        </p:txBody>
      </p:sp>
      <p:sp>
        <p:nvSpPr>
          <p:cNvPr id="11" name="Freeform 11"/>
          <p:cNvSpPr/>
          <p:nvPr/>
        </p:nvSpPr>
        <p:spPr>
          <a:xfrm>
            <a:off x="13812592" y="1998184"/>
            <a:ext cx="2969232" cy="1305551"/>
          </a:xfrm>
          <a:custGeom>
            <a:avLst/>
            <a:gdLst/>
            <a:ahLst/>
            <a:cxnLst/>
            <a:rect l="l" t="t" r="r" b="b"/>
            <a:pathLst>
              <a:path w="2969232" h="1305551">
                <a:moveTo>
                  <a:pt x="0" y="0"/>
                </a:moveTo>
                <a:lnTo>
                  <a:pt x="2969232" y="0"/>
                </a:lnTo>
                <a:lnTo>
                  <a:pt x="2969232" y="1305550"/>
                </a:lnTo>
                <a:lnTo>
                  <a:pt x="0" y="13055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4089225" y="2403605"/>
            <a:ext cx="2166060" cy="478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98"/>
              </a:lnSpc>
            </a:pPr>
            <a:r>
              <a:rPr lang="en-US" sz="1427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ADVANCED SOLUTIONS &amp;​ CONSULTANCY​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596746" y="3854322"/>
            <a:ext cx="4286905" cy="625191"/>
            <a:chOff x="0" y="0"/>
            <a:chExt cx="775587" cy="1131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75587" cy="113110"/>
            </a:xfrm>
            <a:custGeom>
              <a:avLst/>
              <a:gdLst/>
              <a:ahLst/>
              <a:cxnLst/>
              <a:rect l="l" t="t" r="r" b="b"/>
              <a:pathLst>
                <a:path w="775587" h="113110">
                  <a:moveTo>
                    <a:pt x="56555" y="0"/>
                  </a:moveTo>
                  <a:lnTo>
                    <a:pt x="719032" y="0"/>
                  </a:lnTo>
                  <a:cubicBezTo>
                    <a:pt x="734032" y="0"/>
                    <a:pt x="748417" y="5958"/>
                    <a:pt x="759023" y="16565"/>
                  </a:cubicBezTo>
                  <a:cubicBezTo>
                    <a:pt x="769629" y="27171"/>
                    <a:pt x="775587" y="41556"/>
                    <a:pt x="775587" y="56555"/>
                  </a:cubicBezTo>
                  <a:lnTo>
                    <a:pt x="775587" y="56555"/>
                  </a:lnTo>
                  <a:cubicBezTo>
                    <a:pt x="775587" y="87789"/>
                    <a:pt x="750267" y="113110"/>
                    <a:pt x="719032" y="113110"/>
                  </a:cubicBezTo>
                  <a:lnTo>
                    <a:pt x="56555" y="113110"/>
                  </a:lnTo>
                  <a:cubicBezTo>
                    <a:pt x="41556" y="113110"/>
                    <a:pt x="27171" y="107151"/>
                    <a:pt x="16565" y="96545"/>
                  </a:cubicBezTo>
                  <a:cubicBezTo>
                    <a:pt x="5958" y="85939"/>
                    <a:pt x="0" y="71554"/>
                    <a:pt x="0" y="56555"/>
                  </a:cubicBezTo>
                  <a:lnTo>
                    <a:pt x="0" y="56555"/>
                  </a:lnTo>
                  <a:cubicBezTo>
                    <a:pt x="0" y="41556"/>
                    <a:pt x="5958" y="27171"/>
                    <a:pt x="16565" y="16565"/>
                  </a:cubicBezTo>
                  <a:cubicBezTo>
                    <a:pt x="27171" y="5958"/>
                    <a:pt x="41556" y="0"/>
                    <a:pt x="56555" y="0"/>
                  </a:cubicBezTo>
                  <a:close/>
                </a:path>
              </a:pathLst>
            </a:custGeom>
            <a:solidFill>
              <a:srgbClr val="FCFDFE"/>
            </a:solidFill>
            <a:ln w="9525" cap="rnd">
              <a:solidFill>
                <a:srgbClr val="006F74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775587" cy="14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OT Network &amp; Cybersecurity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25684" y="3873602"/>
            <a:ext cx="4286905" cy="625191"/>
            <a:chOff x="0" y="0"/>
            <a:chExt cx="775587" cy="11311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75587" cy="113110"/>
            </a:xfrm>
            <a:custGeom>
              <a:avLst/>
              <a:gdLst/>
              <a:ahLst/>
              <a:cxnLst/>
              <a:rect l="l" t="t" r="r" b="b"/>
              <a:pathLst>
                <a:path w="775587" h="113110">
                  <a:moveTo>
                    <a:pt x="56555" y="0"/>
                  </a:moveTo>
                  <a:lnTo>
                    <a:pt x="719032" y="0"/>
                  </a:lnTo>
                  <a:cubicBezTo>
                    <a:pt x="734032" y="0"/>
                    <a:pt x="748417" y="5958"/>
                    <a:pt x="759023" y="16565"/>
                  </a:cubicBezTo>
                  <a:cubicBezTo>
                    <a:pt x="769629" y="27171"/>
                    <a:pt x="775587" y="41556"/>
                    <a:pt x="775587" y="56555"/>
                  </a:cubicBezTo>
                  <a:lnTo>
                    <a:pt x="775587" y="56555"/>
                  </a:lnTo>
                  <a:cubicBezTo>
                    <a:pt x="775587" y="87789"/>
                    <a:pt x="750267" y="113110"/>
                    <a:pt x="719032" y="113110"/>
                  </a:cubicBezTo>
                  <a:lnTo>
                    <a:pt x="56555" y="113110"/>
                  </a:lnTo>
                  <a:cubicBezTo>
                    <a:pt x="41556" y="113110"/>
                    <a:pt x="27171" y="107151"/>
                    <a:pt x="16565" y="96545"/>
                  </a:cubicBezTo>
                  <a:cubicBezTo>
                    <a:pt x="5958" y="85939"/>
                    <a:pt x="0" y="71554"/>
                    <a:pt x="0" y="56555"/>
                  </a:cubicBezTo>
                  <a:lnTo>
                    <a:pt x="0" y="56555"/>
                  </a:lnTo>
                  <a:cubicBezTo>
                    <a:pt x="0" y="41556"/>
                    <a:pt x="5958" y="27171"/>
                    <a:pt x="16565" y="16565"/>
                  </a:cubicBezTo>
                  <a:cubicBezTo>
                    <a:pt x="27171" y="5958"/>
                    <a:pt x="41556" y="0"/>
                    <a:pt x="56555" y="0"/>
                  </a:cubicBezTo>
                  <a:close/>
                </a:path>
              </a:pathLst>
            </a:custGeom>
            <a:solidFill>
              <a:srgbClr val="FCFDFE"/>
            </a:solidFill>
            <a:ln w="9525" cap="rnd">
              <a:solidFill>
                <a:srgbClr val="006F74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775587" cy="14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Functional Safety Management​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856960" y="3873602"/>
            <a:ext cx="4286905" cy="625191"/>
            <a:chOff x="0" y="0"/>
            <a:chExt cx="775587" cy="1131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75587" cy="113110"/>
            </a:xfrm>
            <a:custGeom>
              <a:avLst/>
              <a:gdLst/>
              <a:ahLst/>
              <a:cxnLst/>
              <a:rect l="l" t="t" r="r" b="b"/>
              <a:pathLst>
                <a:path w="775587" h="113110">
                  <a:moveTo>
                    <a:pt x="56555" y="0"/>
                  </a:moveTo>
                  <a:lnTo>
                    <a:pt x="719032" y="0"/>
                  </a:lnTo>
                  <a:cubicBezTo>
                    <a:pt x="734032" y="0"/>
                    <a:pt x="748417" y="5958"/>
                    <a:pt x="759023" y="16565"/>
                  </a:cubicBezTo>
                  <a:cubicBezTo>
                    <a:pt x="769629" y="27171"/>
                    <a:pt x="775587" y="41556"/>
                    <a:pt x="775587" y="56555"/>
                  </a:cubicBezTo>
                  <a:lnTo>
                    <a:pt x="775587" y="56555"/>
                  </a:lnTo>
                  <a:cubicBezTo>
                    <a:pt x="775587" y="87789"/>
                    <a:pt x="750267" y="113110"/>
                    <a:pt x="719032" y="113110"/>
                  </a:cubicBezTo>
                  <a:lnTo>
                    <a:pt x="56555" y="113110"/>
                  </a:lnTo>
                  <a:cubicBezTo>
                    <a:pt x="41556" y="113110"/>
                    <a:pt x="27171" y="107151"/>
                    <a:pt x="16565" y="96545"/>
                  </a:cubicBezTo>
                  <a:cubicBezTo>
                    <a:pt x="5958" y="85939"/>
                    <a:pt x="0" y="71554"/>
                    <a:pt x="0" y="56555"/>
                  </a:cubicBezTo>
                  <a:lnTo>
                    <a:pt x="0" y="56555"/>
                  </a:lnTo>
                  <a:cubicBezTo>
                    <a:pt x="0" y="41556"/>
                    <a:pt x="5958" y="27171"/>
                    <a:pt x="16565" y="16565"/>
                  </a:cubicBezTo>
                  <a:cubicBezTo>
                    <a:pt x="27171" y="5958"/>
                    <a:pt x="41556" y="0"/>
                    <a:pt x="56555" y="0"/>
                  </a:cubicBezTo>
                  <a:close/>
                </a:path>
              </a:pathLst>
            </a:custGeom>
            <a:solidFill>
              <a:srgbClr val="FCFDFE"/>
            </a:solidFill>
            <a:ln w="9525" cap="rnd">
              <a:solidFill>
                <a:srgbClr val="006F74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28575"/>
              <a:ext cx="775587" cy="14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Project Management Consultancy​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96746" y="4949008"/>
            <a:ext cx="4286905" cy="625191"/>
            <a:chOff x="0" y="0"/>
            <a:chExt cx="775587" cy="11311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75587" cy="113110"/>
            </a:xfrm>
            <a:custGeom>
              <a:avLst/>
              <a:gdLst/>
              <a:ahLst/>
              <a:cxnLst/>
              <a:rect l="l" t="t" r="r" b="b"/>
              <a:pathLst>
                <a:path w="775587" h="113110">
                  <a:moveTo>
                    <a:pt x="56555" y="0"/>
                  </a:moveTo>
                  <a:lnTo>
                    <a:pt x="719032" y="0"/>
                  </a:lnTo>
                  <a:cubicBezTo>
                    <a:pt x="734032" y="0"/>
                    <a:pt x="748417" y="5958"/>
                    <a:pt x="759023" y="16565"/>
                  </a:cubicBezTo>
                  <a:cubicBezTo>
                    <a:pt x="769629" y="27171"/>
                    <a:pt x="775587" y="41556"/>
                    <a:pt x="775587" y="56555"/>
                  </a:cubicBezTo>
                  <a:lnTo>
                    <a:pt x="775587" y="56555"/>
                  </a:lnTo>
                  <a:cubicBezTo>
                    <a:pt x="775587" y="87789"/>
                    <a:pt x="750267" y="113110"/>
                    <a:pt x="719032" y="113110"/>
                  </a:cubicBezTo>
                  <a:lnTo>
                    <a:pt x="56555" y="113110"/>
                  </a:lnTo>
                  <a:cubicBezTo>
                    <a:pt x="41556" y="113110"/>
                    <a:pt x="27171" y="107151"/>
                    <a:pt x="16565" y="96545"/>
                  </a:cubicBezTo>
                  <a:cubicBezTo>
                    <a:pt x="5958" y="85939"/>
                    <a:pt x="0" y="71554"/>
                    <a:pt x="0" y="56555"/>
                  </a:cubicBezTo>
                  <a:lnTo>
                    <a:pt x="0" y="56555"/>
                  </a:lnTo>
                  <a:cubicBezTo>
                    <a:pt x="0" y="41556"/>
                    <a:pt x="5958" y="27171"/>
                    <a:pt x="16565" y="16565"/>
                  </a:cubicBezTo>
                  <a:cubicBezTo>
                    <a:pt x="27171" y="5958"/>
                    <a:pt x="41556" y="0"/>
                    <a:pt x="56555" y="0"/>
                  </a:cubicBezTo>
                  <a:close/>
                </a:path>
              </a:pathLst>
            </a:custGeom>
            <a:solidFill>
              <a:srgbClr val="FCFDFE"/>
            </a:solidFill>
            <a:ln w="9525" cap="rnd">
              <a:solidFill>
                <a:srgbClr val="006F74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775587" cy="14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Critical PCS/Basic PCS Consultancy​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225684" y="4929727"/>
            <a:ext cx="4286905" cy="625191"/>
            <a:chOff x="0" y="0"/>
            <a:chExt cx="775587" cy="1131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75587" cy="113110"/>
            </a:xfrm>
            <a:custGeom>
              <a:avLst/>
              <a:gdLst/>
              <a:ahLst/>
              <a:cxnLst/>
              <a:rect l="l" t="t" r="r" b="b"/>
              <a:pathLst>
                <a:path w="775587" h="113110">
                  <a:moveTo>
                    <a:pt x="56555" y="0"/>
                  </a:moveTo>
                  <a:lnTo>
                    <a:pt x="719032" y="0"/>
                  </a:lnTo>
                  <a:cubicBezTo>
                    <a:pt x="734032" y="0"/>
                    <a:pt x="748417" y="5958"/>
                    <a:pt x="759023" y="16565"/>
                  </a:cubicBezTo>
                  <a:cubicBezTo>
                    <a:pt x="769629" y="27171"/>
                    <a:pt x="775587" y="41556"/>
                    <a:pt x="775587" y="56555"/>
                  </a:cubicBezTo>
                  <a:lnTo>
                    <a:pt x="775587" y="56555"/>
                  </a:lnTo>
                  <a:cubicBezTo>
                    <a:pt x="775587" y="87789"/>
                    <a:pt x="750267" y="113110"/>
                    <a:pt x="719032" y="113110"/>
                  </a:cubicBezTo>
                  <a:lnTo>
                    <a:pt x="56555" y="113110"/>
                  </a:lnTo>
                  <a:cubicBezTo>
                    <a:pt x="41556" y="113110"/>
                    <a:pt x="27171" y="107151"/>
                    <a:pt x="16565" y="96545"/>
                  </a:cubicBezTo>
                  <a:cubicBezTo>
                    <a:pt x="5958" y="85939"/>
                    <a:pt x="0" y="71554"/>
                    <a:pt x="0" y="56555"/>
                  </a:cubicBezTo>
                  <a:lnTo>
                    <a:pt x="0" y="56555"/>
                  </a:lnTo>
                  <a:cubicBezTo>
                    <a:pt x="0" y="41556"/>
                    <a:pt x="5958" y="27171"/>
                    <a:pt x="16565" y="16565"/>
                  </a:cubicBezTo>
                  <a:cubicBezTo>
                    <a:pt x="27171" y="5958"/>
                    <a:pt x="41556" y="0"/>
                    <a:pt x="56555" y="0"/>
                  </a:cubicBezTo>
                  <a:close/>
                </a:path>
              </a:pathLst>
            </a:custGeom>
            <a:solidFill>
              <a:srgbClr val="FCFDFE"/>
            </a:solidFill>
            <a:ln w="9525" cap="rnd">
              <a:solidFill>
                <a:srgbClr val="006F74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775587" cy="14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FEED Design, Fabrication &amp; Installation​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856960" y="4929727"/>
            <a:ext cx="4286905" cy="625191"/>
            <a:chOff x="0" y="0"/>
            <a:chExt cx="775587" cy="11311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75587" cy="113110"/>
            </a:xfrm>
            <a:custGeom>
              <a:avLst/>
              <a:gdLst/>
              <a:ahLst/>
              <a:cxnLst/>
              <a:rect l="l" t="t" r="r" b="b"/>
              <a:pathLst>
                <a:path w="775587" h="113110">
                  <a:moveTo>
                    <a:pt x="56555" y="0"/>
                  </a:moveTo>
                  <a:lnTo>
                    <a:pt x="719032" y="0"/>
                  </a:lnTo>
                  <a:cubicBezTo>
                    <a:pt x="734032" y="0"/>
                    <a:pt x="748417" y="5958"/>
                    <a:pt x="759023" y="16565"/>
                  </a:cubicBezTo>
                  <a:cubicBezTo>
                    <a:pt x="769629" y="27171"/>
                    <a:pt x="775587" y="41556"/>
                    <a:pt x="775587" y="56555"/>
                  </a:cubicBezTo>
                  <a:lnTo>
                    <a:pt x="775587" y="56555"/>
                  </a:lnTo>
                  <a:cubicBezTo>
                    <a:pt x="775587" y="87789"/>
                    <a:pt x="750267" y="113110"/>
                    <a:pt x="719032" y="113110"/>
                  </a:cubicBezTo>
                  <a:lnTo>
                    <a:pt x="56555" y="113110"/>
                  </a:lnTo>
                  <a:cubicBezTo>
                    <a:pt x="41556" y="113110"/>
                    <a:pt x="27171" y="107151"/>
                    <a:pt x="16565" y="96545"/>
                  </a:cubicBezTo>
                  <a:cubicBezTo>
                    <a:pt x="5958" y="85939"/>
                    <a:pt x="0" y="71554"/>
                    <a:pt x="0" y="56555"/>
                  </a:cubicBezTo>
                  <a:lnTo>
                    <a:pt x="0" y="56555"/>
                  </a:lnTo>
                  <a:cubicBezTo>
                    <a:pt x="0" y="41556"/>
                    <a:pt x="5958" y="27171"/>
                    <a:pt x="16565" y="16565"/>
                  </a:cubicBezTo>
                  <a:cubicBezTo>
                    <a:pt x="27171" y="5958"/>
                    <a:pt x="41556" y="0"/>
                    <a:pt x="56555" y="0"/>
                  </a:cubicBezTo>
                  <a:close/>
                </a:path>
              </a:pathLst>
            </a:custGeom>
            <a:solidFill>
              <a:srgbClr val="FCFDFE"/>
            </a:solidFill>
            <a:ln w="9525" cap="rnd">
              <a:solidFill>
                <a:srgbClr val="006F74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775587" cy="14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Turnkey E&amp;I Integration​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96746" y="6003055"/>
            <a:ext cx="4286905" cy="625191"/>
            <a:chOff x="0" y="0"/>
            <a:chExt cx="775587" cy="11311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75587" cy="113110"/>
            </a:xfrm>
            <a:custGeom>
              <a:avLst/>
              <a:gdLst/>
              <a:ahLst/>
              <a:cxnLst/>
              <a:rect l="l" t="t" r="r" b="b"/>
              <a:pathLst>
                <a:path w="775587" h="113110">
                  <a:moveTo>
                    <a:pt x="56555" y="0"/>
                  </a:moveTo>
                  <a:lnTo>
                    <a:pt x="719032" y="0"/>
                  </a:lnTo>
                  <a:cubicBezTo>
                    <a:pt x="734032" y="0"/>
                    <a:pt x="748417" y="5958"/>
                    <a:pt x="759023" y="16565"/>
                  </a:cubicBezTo>
                  <a:cubicBezTo>
                    <a:pt x="769629" y="27171"/>
                    <a:pt x="775587" y="41556"/>
                    <a:pt x="775587" y="56555"/>
                  </a:cubicBezTo>
                  <a:lnTo>
                    <a:pt x="775587" y="56555"/>
                  </a:lnTo>
                  <a:cubicBezTo>
                    <a:pt x="775587" y="87789"/>
                    <a:pt x="750267" y="113110"/>
                    <a:pt x="719032" y="113110"/>
                  </a:cubicBezTo>
                  <a:lnTo>
                    <a:pt x="56555" y="113110"/>
                  </a:lnTo>
                  <a:cubicBezTo>
                    <a:pt x="41556" y="113110"/>
                    <a:pt x="27171" y="107151"/>
                    <a:pt x="16565" y="96545"/>
                  </a:cubicBezTo>
                  <a:cubicBezTo>
                    <a:pt x="5958" y="85939"/>
                    <a:pt x="0" y="71554"/>
                    <a:pt x="0" y="56555"/>
                  </a:cubicBezTo>
                  <a:lnTo>
                    <a:pt x="0" y="56555"/>
                  </a:lnTo>
                  <a:cubicBezTo>
                    <a:pt x="0" y="41556"/>
                    <a:pt x="5958" y="27171"/>
                    <a:pt x="16565" y="16565"/>
                  </a:cubicBezTo>
                  <a:cubicBezTo>
                    <a:pt x="27171" y="5958"/>
                    <a:pt x="41556" y="0"/>
                    <a:pt x="56555" y="0"/>
                  </a:cubicBezTo>
                  <a:close/>
                </a:path>
              </a:pathLst>
            </a:custGeom>
            <a:solidFill>
              <a:srgbClr val="FCFDFE"/>
            </a:solidFill>
            <a:ln w="9525" cap="rnd">
              <a:solidFill>
                <a:srgbClr val="006F74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775587" cy="14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SCADA Solutions​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25684" y="5983774"/>
            <a:ext cx="4286905" cy="625191"/>
            <a:chOff x="0" y="0"/>
            <a:chExt cx="775587" cy="11311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75587" cy="113110"/>
            </a:xfrm>
            <a:custGeom>
              <a:avLst/>
              <a:gdLst/>
              <a:ahLst/>
              <a:cxnLst/>
              <a:rect l="l" t="t" r="r" b="b"/>
              <a:pathLst>
                <a:path w="775587" h="113110">
                  <a:moveTo>
                    <a:pt x="56555" y="0"/>
                  </a:moveTo>
                  <a:lnTo>
                    <a:pt x="719032" y="0"/>
                  </a:lnTo>
                  <a:cubicBezTo>
                    <a:pt x="734032" y="0"/>
                    <a:pt x="748417" y="5958"/>
                    <a:pt x="759023" y="16565"/>
                  </a:cubicBezTo>
                  <a:cubicBezTo>
                    <a:pt x="769629" y="27171"/>
                    <a:pt x="775587" y="41556"/>
                    <a:pt x="775587" y="56555"/>
                  </a:cubicBezTo>
                  <a:lnTo>
                    <a:pt x="775587" y="56555"/>
                  </a:lnTo>
                  <a:cubicBezTo>
                    <a:pt x="775587" y="87789"/>
                    <a:pt x="750267" y="113110"/>
                    <a:pt x="719032" y="113110"/>
                  </a:cubicBezTo>
                  <a:lnTo>
                    <a:pt x="56555" y="113110"/>
                  </a:lnTo>
                  <a:cubicBezTo>
                    <a:pt x="41556" y="113110"/>
                    <a:pt x="27171" y="107151"/>
                    <a:pt x="16565" y="96545"/>
                  </a:cubicBezTo>
                  <a:cubicBezTo>
                    <a:pt x="5958" y="85939"/>
                    <a:pt x="0" y="71554"/>
                    <a:pt x="0" y="56555"/>
                  </a:cubicBezTo>
                  <a:lnTo>
                    <a:pt x="0" y="56555"/>
                  </a:lnTo>
                  <a:cubicBezTo>
                    <a:pt x="0" y="41556"/>
                    <a:pt x="5958" y="27171"/>
                    <a:pt x="16565" y="16565"/>
                  </a:cubicBezTo>
                  <a:cubicBezTo>
                    <a:pt x="27171" y="5958"/>
                    <a:pt x="41556" y="0"/>
                    <a:pt x="56555" y="0"/>
                  </a:cubicBezTo>
                  <a:close/>
                </a:path>
              </a:pathLst>
            </a:custGeom>
            <a:solidFill>
              <a:srgbClr val="FCFDFE"/>
            </a:solidFill>
            <a:ln w="9525" cap="rnd">
              <a:solidFill>
                <a:srgbClr val="006F74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775587" cy="14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PLC / DCS / HMI Programming​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856960" y="5983774"/>
            <a:ext cx="4286905" cy="625191"/>
            <a:chOff x="0" y="0"/>
            <a:chExt cx="775587" cy="11311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75587" cy="113110"/>
            </a:xfrm>
            <a:custGeom>
              <a:avLst/>
              <a:gdLst/>
              <a:ahLst/>
              <a:cxnLst/>
              <a:rect l="l" t="t" r="r" b="b"/>
              <a:pathLst>
                <a:path w="775587" h="113110">
                  <a:moveTo>
                    <a:pt x="56555" y="0"/>
                  </a:moveTo>
                  <a:lnTo>
                    <a:pt x="719032" y="0"/>
                  </a:lnTo>
                  <a:cubicBezTo>
                    <a:pt x="734032" y="0"/>
                    <a:pt x="748417" y="5958"/>
                    <a:pt x="759023" y="16565"/>
                  </a:cubicBezTo>
                  <a:cubicBezTo>
                    <a:pt x="769629" y="27171"/>
                    <a:pt x="775587" y="41556"/>
                    <a:pt x="775587" y="56555"/>
                  </a:cubicBezTo>
                  <a:lnTo>
                    <a:pt x="775587" y="56555"/>
                  </a:lnTo>
                  <a:cubicBezTo>
                    <a:pt x="775587" y="87789"/>
                    <a:pt x="750267" y="113110"/>
                    <a:pt x="719032" y="113110"/>
                  </a:cubicBezTo>
                  <a:lnTo>
                    <a:pt x="56555" y="113110"/>
                  </a:lnTo>
                  <a:cubicBezTo>
                    <a:pt x="41556" y="113110"/>
                    <a:pt x="27171" y="107151"/>
                    <a:pt x="16565" y="96545"/>
                  </a:cubicBezTo>
                  <a:cubicBezTo>
                    <a:pt x="5958" y="85939"/>
                    <a:pt x="0" y="71554"/>
                    <a:pt x="0" y="56555"/>
                  </a:cubicBezTo>
                  <a:lnTo>
                    <a:pt x="0" y="56555"/>
                  </a:lnTo>
                  <a:cubicBezTo>
                    <a:pt x="0" y="41556"/>
                    <a:pt x="5958" y="27171"/>
                    <a:pt x="16565" y="16565"/>
                  </a:cubicBezTo>
                  <a:cubicBezTo>
                    <a:pt x="27171" y="5958"/>
                    <a:pt x="41556" y="0"/>
                    <a:pt x="56555" y="0"/>
                  </a:cubicBezTo>
                  <a:close/>
                </a:path>
              </a:pathLst>
            </a:custGeom>
            <a:solidFill>
              <a:srgbClr val="FCFDFE"/>
            </a:solidFill>
            <a:ln w="9525" cap="rnd">
              <a:solidFill>
                <a:srgbClr val="006F74"/>
              </a:solidFill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775587" cy="14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Turbomachinery &amp; Compressor Controls​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555250" y="7342622"/>
            <a:ext cx="314031" cy="281777"/>
            <a:chOff x="0" y="0"/>
            <a:chExt cx="82708" cy="7421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2708" cy="74213"/>
            </a:xfrm>
            <a:custGeom>
              <a:avLst/>
              <a:gdLst/>
              <a:ahLst/>
              <a:cxnLst/>
              <a:rect l="l" t="t" r="r" b="b"/>
              <a:pathLst>
                <a:path w="82708" h="74213">
                  <a:moveTo>
                    <a:pt x="0" y="0"/>
                  </a:moveTo>
                  <a:lnTo>
                    <a:pt x="82708" y="0"/>
                  </a:lnTo>
                  <a:lnTo>
                    <a:pt x="82708" y="74213"/>
                  </a:lnTo>
                  <a:lnTo>
                    <a:pt x="0" y="74213"/>
                  </a:lnTo>
                  <a:close/>
                </a:path>
              </a:pathLst>
            </a:custGeom>
            <a:solidFill>
              <a:srgbClr val="00AA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82708" cy="102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555250" y="7855793"/>
            <a:ext cx="314031" cy="281777"/>
            <a:chOff x="0" y="0"/>
            <a:chExt cx="82708" cy="7421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2708" cy="74213"/>
            </a:xfrm>
            <a:custGeom>
              <a:avLst/>
              <a:gdLst/>
              <a:ahLst/>
              <a:cxnLst/>
              <a:rect l="l" t="t" r="r" b="b"/>
              <a:pathLst>
                <a:path w="82708" h="74213">
                  <a:moveTo>
                    <a:pt x="0" y="0"/>
                  </a:moveTo>
                  <a:lnTo>
                    <a:pt x="82708" y="0"/>
                  </a:lnTo>
                  <a:lnTo>
                    <a:pt x="82708" y="74213"/>
                  </a:lnTo>
                  <a:lnTo>
                    <a:pt x="0" y="74213"/>
                  </a:lnTo>
                  <a:close/>
                </a:path>
              </a:pathLst>
            </a:custGeom>
            <a:solidFill>
              <a:srgbClr val="00AA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82708" cy="102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555250" y="8366170"/>
            <a:ext cx="314031" cy="281777"/>
            <a:chOff x="0" y="0"/>
            <a:chExt cx="82708" cy="7421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2708" cy="74213"/>
            </a:xfrm>
            <a:custGeom>
              <a:avLst/>
              <a:gdLst/>
              <a:ahLst/>
              <a:cxnLst/>
              <a:rect l="l" t="t" r="r" b="b"/>
              <a:pathLst>
                <a:path w="82708" h="74213">
                  <a:moveTo>
                    <a:pt x="0" y="0"/>
                  </a:moveTo>
                  <a:lnTo>
                    <a:pt x="82708" y="0"/>
                  </a:lnTo>
                  <a:lnTo>
                    <a:pt x="82708" y="74213"/>
                  </a:lnTo>
                  <a:lnTo>
                    <a:pt x="0" y="74213"/>
                  </a:lnTo>
                  <a:close/>
                </a:path>
              </a:pathLst>
            </a:custGeom>
            <a:solidFill>
              <a:srgbClr val="00AA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82708" cy="102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3555250" y="8884567"/>
            <a:ext cx="314031" cy="281777"/>
            <a:chOff x="0" y="0"/>
            <a:chExt cx="82708" cy="7421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82708" cy="74213"/>
            </a:xfrm>
            <a:custGeom>
              <a:avLst/>
              <a:gdLst/>
              <a:ahLst/>
              <a:cxnLst/>
              <a:rect l="l" t="t" r="r" b="b"/>
              <a:pathLst>
                <a:path w="82708" h="74213">
                  <a:moveTo>
                    <a:pt x="0" y="0"/>
                  </a:moveTo>
                  <a:lnTo>
                    <a:pt x="82708" y="0"/>
                  </a:lnTo>
                  <a:lnTo>
                    <a:pt x="82708" y="74213"/>
                  </a:lnTo>
                  <a:lnTo>
                    <a:pt x="0" y="74213"/>
                  </a:lnTo>
                  <a:close/>
                </a:path>
              </a:pathLst>
            </a:custGeom>
            <a:solidFill>
              <a:srgbClr val="00AA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82708" cy="102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555250" y="9404469"/>
            <a:ext cx="314031" cy="281777"/>
            <a:chOff x="0" y="0"/>
            <a:chExt cx="82708" cy="74213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82708" cy="74213"/>
            </a:xfrm>
            <a:custGeom>
              <a:avLst/>
              <a:gdLst/>
              <a:ahLst/>
              <a:cxnLst/>
              <a:rect l="l" t="t" r="r" b="b"/>
              <a:pathLst>
                <a:path w="82708" h="74213">
                  <a:moveTo>
                    <a:pt x="0" y="0"/>
                  </a:moveTo>
                  <a:lnTo>
                    <a:pt x="82708" y="0"/>
                  </a:lnTo>
                  <a:lnTo>
                    <a:pt x="82708" y="74213"/>
                  </a:lnTo>
                  <a:lnTo>
                    <a:pt x="0" y="74213"/>
                  </a:lnTo>
                  <a:close/>
                </a:path>
              </a:pathLst>
            </a:custGeom>
            <a:solidFill>
              <a:srgbClr val="00AA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28575"/>
              <a:ext cx="82708" cy="102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4349462" y="7354960"/>
            <a:ext cx="4080987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Training &amp; Upskilling​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349462" y="7855793"/>
            <a:ext cx="325317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IoT Solution​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349462" y="8360543"/>
            <a:ext cx="31060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Factory Monitoring &amp; Control​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349462" y="8865294"/>
            <a:ext cx="2999207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Batching System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349462" y="9416807"/>
            <a:ext cx="33598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Inventory Management​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10310162" y="7367924"/>
            <a:ext cx="314031" cy="281777"/>
            <a:chOff x="0" y="0"/>
            <a:chExt cx="82708" cy="7421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82708" cy="74213"/>
            </a:xfrm>
            <a:custGeom>
              <a:avLst/>
              <a:gdLst/>
              <a:ahLst/>
              <a:cxnLst/>
              <a:rect l="l" t="t" r="r" b="b"/>
              <a:pathLst>
                <a:path w="82708" h="74213">
                  <a:moveTo>
                    <a:pt x="0" y="0"/>
                  </a:moveTo>
                  <a:lnTo>
                    <a:pt x="82708" y="0"/>
                  </a:lnTo>
                  <a:lnTo>
                    <a:pt x="82708" y="74213"/>
                  </a:lnTo>
                  <a:lnTo>
                    <a:pt x="0" y="74213"/>
                  </a:lnTo>
                  <a:close/>
                </a:path>
              </a:pathLst>
            </a:custGeom>
            <a:solidFill>
              <a:srgbClr val="00AA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82708" cy="102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310162" y="7881096"/>
            <a:ext cx="314031" cy="281777"/>
            <a:chOff x="0" y="0"/>
            <a:chExt cx="82708" cy="74213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82708" cy="74213"/>
            </a:xfrm>
            <a:custGeom>
              <a:avLst/>
              <a:gdLst/>
              <a:ahLst/>
              <a:cxnLst/>
              <a:rect l="l" t="t" r="r" b="b"/>
              <a:pathLst>
                <a:path w="82708" h="74213">
                  <a:moveTo>
                    <a:pt x="0" y="0"/>
                  </a:moveTo>
                  <a:lnTo>
                    <a:pt x="82708" y="0"/>
                  </a:lnTo>
                  <a:lnTo>
                    <a:pt x="82708" y="74213"/>
                  </a:lnTo>
                  <a:lnTo>
                    <a:pt x="0" y="74213"/>
                  </a:lnTo>
                  <a:close/>
                </a:path>
              </a:pathLst>
            </a:custGeom>
            <a:solidFill>
              <a:srgbClr val="00AA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28575"/>
              <a:ext cx="82708" cy="102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310162" y="8391472"/>
            <a:ext cx="314031" cy="281777"/>
            <a:chOff x="0" y="0"/>
            <a:chExt cx="82708" cy="74213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82708" cy="74213"/>
            </a:xfrm>
            <a:custGeom>
              <a:avLst/>
              <a:gdLst/>
              <a:ahLst/>
              <a:cxnLst/>
              <a:rect l="l" t="t" r="r" b="b"/>
              <a:pathLst>
                <a:path w="82708" h="74213">
                  <a:moveTo>
                    <a:pt x="0" y="0"/>
                  </a:moveTo>
                  <a:lnTo>
                    <a:pt x="82708" y="0"/>
                  </a:lnTo>
                  <a:lnTo>
                    <a:pt x="82708" y="74213"/>
                  </a:lnTo>
                  <a:lnTo>
                    <a:pt x="0" y="74213"/>
                  </a:lnTo>
                  <a:close/>
                </a:path>
              </a:pathLst>
            </a:custGeom>
            <a:solidFill>
              <a:srgbClr val="00AA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28575"/>
              <a:ext cx="82708" cy="102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310162" y="8909870"/>
            <a:ext cx="314031" cy="281777"/>
            <a:chOff x="0" y="0"/>
            <a:chExt cx="82708" cy="74213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2708" cy="74213"/>
            </a:xfrm>
            <a:custGeom>
              <a:avLst/>
              <a:gdLst/>
              <a:ahLst/>
              <a:cxnLst/>
              <a:rect l="l" t="t" r="r" b="b"/>
              <a:pathLst>
                <a:path w="82708" h="74213">
                  <a:moveTo>
                    <a:pt x="0" y="0"/>
                  </a:moveTo>
                  <a:lnTo>
                    <a:pt x="82708" y="0"/>
                  </a:lnTo>
                  <a:lnTo>
                    <a:pt x="82708" y="74213"/>
                  </a:lnTo>
                  <a:lnTo>
                    <a:pt x="0" y="74213"/>
                  </a:lnTo>
                  <a:close/>
                </a:path>
              </a:pathLst>
            </a:custGeom>
            <a:solidFill>
              <a:srgbClr val="00AA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82708" cy="102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0310162" y="9429772"/>
            <a:ext cx="314031" cy="281777"/>
            <a:chOff x="0" y="0"/>
            <a:chExt cx="82708" cy="7421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82708" cy="74213"/>
            </a:xfrm>
            <a:custGeom>
              <a:avLst/>
              <a:gdLst/>
              <a:ahLst/>
              <a:cxnLst/>
              <a:rect l="l" t="t" r="r" b="b"/>
              <a:pathLst>
                <a:path w="82708" h="74213">
                  <a:moveTo>
                    <a:pt x="0" y="0"/>
                  </a:moveTo>
                  <a:lnTo>
                    <a:pt x="82708" y="0"/>
                  </a:lnTo>
                  <a:lnTo>
                    <a:pt x="82708" y="74213"/>
                  </a:lnTo>
                  <a:lnTo>
                    <a:pt x="0" y="74213"/>
                  </a:lnTo>
                  <a:close/>
                </a:path>
              </a:pathLst>
            </a:custGeom>
            <a:solidFill>
              <a:srgbClr val="00AA00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28575"/>
              <a:ext cx="82708" cy="102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1104374" y="7380262"/>
            <a:ext cx="4080987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Manufacturing Execution System (MES)​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104374" y="7881096"/>
            <a:ext cx="325317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Downtime &amp; OEE Analysis​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104374" y="8385846"/>
            <a:ext cx="310605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Recipe Management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104374" y="8890597"/>
            <a:ext cx="2999207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Statistical Process Control​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104374" y="9442110"/>
            <a:ext cx="3359800" cy="2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6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Traceability Solution​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3406" y="3757906"/>
            <a:ext cx="1194925" cy="239443"/>
            <a:chOff x="0" y="0"/>
            <a:chExt cx="1593233" cy="31925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319257" cy="319257"/>
              <a:chOff x="0" y="0"/>
              <a:chExt cx="1913890" cy="191389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5" name="Group 5"/>
            <p:cNvGrpSpPr/>
            <p:nvPr/>
          </p:nvGrpSpPr>
          <p:grpSpPr>
            <a:xfrm>
              <a:off x="640802" y="0"/>
              <a:ext cx="319257" cy="319257"/>
              <a:chOff x="0" y="0"/>
              <a:chExt cx="1913890" cy="191389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273976" y="0"/>
              <a:ext cx="319257" cy="319257"/>
              <a:chOff x="0" y="0"/>
              <a:chExt cx="1913890" cy="191389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1028700" y="8606060"/>
            <a:ext cx="1138455" cy="652240"/>
          </a:xfrm>
          <a:custGeom>
            <a:avLst/>
            <a:gdLst/>
            <a:ahLst/>
            <a:cxnLst/>
            <a:rect l="l" t="t" r="r" b="b"/>
            <a:pathLst>
              <a:path w="1138455" h="652240">
                <a:moveTo>
                  <a:pt x="0" y="0"/>
                </a:moveTo>
                <a:lnTo>
                  <a:pt x="1138455" y="0"/>
                </a:lnTo>
                <a:lnTo>
                  <a:pt x="1138455" y="652240"/>
                </a:lnTo>
                <a:lnTo>
                  <a:pt x="0" y="6522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8897498" y="1460267"/>
            <a:ext cx="595972" cy="444742"/>
          </a:xfrm>
          <a:custGeom>
            <a:avLst/>
            <a:gdLst/>
            <a:ahLst/>
            <a:cxnLst/>
            <a:rect l="l" t="t" r="r" b="b"/>
            <a:pathLst>
              <a:path w="595972" h="444742">
                <a:moveTo>
                  <a:pt x="0" y="0"/>
                </a:moveTo>
                <a:lnTo>
                  <a:pt x="595972" y="0"/>
                </a:lnTo>
                <a:lnTo>
                  <a:pt x="595972" y="444742"/>
                </a:lnTo>
                <a:lnTo>
                  <a:pt x="0" y="4447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203406" y="4497784"/>
            <a:ext cx="6834281" cy="753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4"/>
              </a:lnSpc>
            </a:pPr>
            <a:r>
              <a:rPr lang="en-US" sz="5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Training Services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73307" y="4164764"/>
            <a:ext cx="10296301" cy="556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  <a:spcBef>
                <a:spcPct val="0"/>
              </a:spcBef>
            </a:pPr>
            <a:r>
              <a:rPr lang="en-US" sz="31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Fundamentals of Functional Safety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55575" y="1361274"/>
            <a:ext cx="9706782" cy="55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  <a:spcBef>
                <a:spcPct val="0"/>
              </a:spcBef>
            </a:pPr>
            <a:r>
              <a:rPr lang="en-US" sz="31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Cybersecurity Awareness Sessions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64441" y="2809649"/>
            <a:ext cx="10214741" cy="55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  <a:spcBef>
                <a:spcPct val="0"/>
              </a:spcBef>
            </a:pPr>
            <a:r>
              <a:rPr lang="en-US" sz="31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Advanced OT Cybersecurity Training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73307" y="5521867"/>
            <a:ext cx="10296301" cy="55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  <a:spcBef>
                <a:spcPct val="0"/>
              </a:spcBef>
            </a:pPr>
            <a:r>
              <a:rPr lang="en-US" sz="31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Risk Assessment &amp; Alarm Management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64441" y="6907799"/>
            <a:ext cx="10296301" cy="55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  <a:spcBef>
                <a:spcPct val="0"/>
              </a:spcBef>
            </a:pPr>
            <a:r>
              <a:rPr lang="en-US" sz="31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Workforce Competency Development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64441" y="8282998"/>
            <a:ext cx="10296301" cy="557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5"/>
              </a:lnSpc>
              <a:spcBef>
                <a:spcPct val="0"/>
              </a:spcBef>
            </a:pPr>
            <a:r>
              <a:rPr lang="en-US" sz="31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Strategic Partnership With DNV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9534525"/>
            <a:ext cx="9890341" cy="174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"/>
              </a:lnSpc>
              <a:spcBef>
                <a:spcPct val="0"/>
              </a:spcBef>
            </a:pPr>
            <a:r>
              <a:rPr lang="en-US" sz="1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Apeiron provides certified training in partnership with DNV for Functional safety &amp; Cybersecurity.​</a:t>
            </a:r>
          </a:p>
        </p:txBody>
      </p:sp>
      <p:sp>
        <p:nvSpPr>
          <p:cNvPr id="19" name="Freeform 19"/>
          <p:cNvSpPr/>
          <p:nvPr/>
        </p:nvSpPr>
        <p:spPr>
          <a:xfrm>
            <a:off x="8897498" y="2895374"/>
            <a:ext cx="595972" cy="444742"/>
          </a:xfrm>
          <a:custGeom>
            <a:avLst/>
            <a:gdLst/>
            <a:ahLst/>
            <a:cxnLst/>
            <a:rect l="l" t="t" r="r" b="b"/>
            <a:pathLst>
              <a:path w="595972" h="444742">
                <a:moveTo>
                  <a:pt x="0" y="0"/>
                </a:moveTo>
                <a:lnTo>
                  <a:pt x="595972" y="0"/>
                </a:lnTo>
                <a:lnTo>
                  <a:pt x="595972" y="444743"/>
                </a:lnTo>
                <a:lnTo>
                  <a:pt x="0" y="4447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8906364" y="4277025"/>
            <a:ext cx="595972" cy="444742"/>
          </a:xfrm>
          <a:custGeom>
            <a:avLst/>
            <a:gdLst/>
            <a:ahLst/>
            <a:cxnLst/>
            <a:rect l="l" t="t" r="r" b="b"/>
            <a:pathLst>
              <a:path w="595972" h="444742">
                <a:moveTo>
                  <a:pt x="0" y="0"/>
                </a:moveTo>
                <a:lnTo>
                  <a:pt x="595972" y="0"/>
                </a:lnTo>
                <a:lnTo>
                  <a:pt x="595972" y="444742"/>
                </a:lnTo>
                <a:lnTo>
                  <a:pt x="0" y="4447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1" name="Freeform 21"/>
          <p:cNvSpPr/>
          <p:nvPr/>
        </p:nvSpPr>
        <p:spPr>
          <a:xfrm>
            <a:off x="8906364" y="5634128"/>
            <a:ext cx="595972" cy="444742"/>
          </a:xfrm>
          <a:custGeom>
            <a:avLst/>
            <a:gdLst/>
            <a:ahLst/>
            <a:cxnLst/>
            <a:rect l="l" t="t" r="r" b="b"/>
            <a:pathLst>
              <a:path w="595972" h="444742">
                <a:moveTo>
                  <a:pt x="0" y="0"/>
                </a:moveTo>
                <a:lnTo>
                  <a:pt x="595972" y="0"/>
                </a:lnTo>
                <a:lnTo>
                  <a:pt x="595972" y="444743"/>
                </a:lnTo>
                <a:lnTo>
                  <a:pt x="0" y="4447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2" name="Freeform 22"/>
          <p:cNvSpPr/>
          <p:nvPr/>
        </p:nvSpPr>
        <p:spPr>
          <a:xfrm>
            <a:off x="8906364" y="6964696"/>
            <a:ext cx="595972" cy="444742"/>
          </a:xfrm>
          <a:custGeom>
            <a:avLst/>
            <a:gdLst/>
            <a:ahLst/>
            <a:cxnLst/>
            <a:rect l="l" t="t" r="r" b="b"/>
            <a:pathLst>
              <a:path w="595972" h="444742">
                <a:moveTo>
                  <a:pt x="0" y="0"/>
                </a:moveTo>
                <a:lnTo>
                  <a:pt x="595972" y="0"/>
                </a:lnTo>
                <a:lnTo>
                  <a:pt x="595972" y="444742"/>
                </a:lnTo>
                <a:lnTo>
                  <a:pt x="0" y="4447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3" name="Freeform 23"/>
          <p:cNvSpPr/>
          <p:nvPr/>
        </p:nvSpPr>
        <p:spPr>
          <a:xfrm>
            <a:off x="8897498" y="8350628"/>
            <a:ext cx="595972" cy="444742"/>
          </a:xfrm>
          <a:custGeom>
            <a:avLst/>
            <a:gdLst/>
            <a:ahLst/>
            <a:cxnLst/>
            <a:rect l="l" t="t" r="r" b="b"/>
            <a:pathLst>
              <a:path w="595972" h="444742">
                <a:moveTo>
                  <a:pt x="0" y="0"/>
                </a:moveTo>
                <a:lnTo>
                  <a:pt x="595972" y="0"/>
                </a:lnTo>
                <a:lnTo>
                  <a:pt x="595972" y="444742"/>
                </a:lnTo>
                <a:lnTo>
                  <a:pt x="0" y="4447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4" name="Group 24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63">
            <a:extLst>
              <a:ext uri="{FF2B5EF4-FFF2-40B4-BE49-F238E27FC236}">
                <a16:creationId xmlns:a16="http://schemas.microsoft.com/office/drawing/2014/main" id="{8971A4FC-6F2B-CE51-7743-011232604B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71749" y="671624"/>
            <a:ext cx="8344501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40"/>
              </a:lnSpc>
            </a:pPr>
            <a:r>
              <a:rPr lang="en-US" sz="5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Functional Safety</a:t>
            </a:r>
          </a:p>
        </p:txBody>
      </p:sp>
      <p:sp>
        <p:nvSpPr>
          <p:cNvPr id="3" name="Freeform 3"/>
          <p:cNvSpPr/>
          <p:nvPr/>
        </p:nvSpPr>
        <p:spPr>
          <a:xfrm>
            <a:off x="6285680" y="4616366"/>
            <a:ext cx="1546306" cy="1590714"/>
          </a:xfrm>
          <a:custGeom>
            <a:avLst/>
            <a:gdLst/>
            <a:ahLst/>
            <a:cxnLst/>
            <a:rect l="l" t="t" r="r" b="b"/>
            <a:pathLst>
              <a:path w="1546306" h="1590714">
                <a:moveTo>
                  <a:pt x="0" y="0"/>
                </a:moveTo>
                <a:lnTo>
                  <a:pt x="1546306" y="0"/>
                </a:lnTo>
                <a:lnTo>
                  <a:pt x="1546306" y="1590714"/>
                </a:lnTo>
                <a:lnTo>
                  <a:pt x="0" y="1590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10800000">
            <a:off x="10452059" y="4616366"/>
            <a:ext cx="1546306" cy="1590714"/>
          </a:xfrm>
          <a:custGeom>
            <a:avLst/>
            <a:gdLst/>
            <a:ahLst/>
            <a:cxnLst/>
            <a:rect l="l" t="t" r="r" b="b"/>
            <a:pathLst>
              <a:path w="1546306" h="1590714">
                <a:moveTo>
                  <a:pt x="0" y="0"/>
                </a:moveTo>
                <a:lnTo>
                  <a:pt x="1546307" y="0"/>
                </a:lnTo>
                <a:lnTo>
                  <a:pt x="1546307" y="1590714"/>
                </a:lnTo>
                <a:lnTo>
                  <a:pt x="0" y="1590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rot="2100000">
            <a:off x="6662421" y="3421498"/>
            <a:ext cx="1546306" cy="1590714"/>
          </a:xfrm>
          <a:custGeom>
            <a:avLst/>
            <a:gdLst/>
            <a:ahLst/>
            <a:cxnLst/>
            <a:rect l="l" t="t" r="r" b="b"/>
            <a:pathLst>
              <a:path w="1546306" h="1590714">
                <a:moveTo>
                  <a:pt x="0" y="0"/>
                </a:moveTo>
                <a:lnTo>
                  <a:pt x="1546306" y="0"/>
                </a:lnTo>
                <a:lnTo>
                  <a:pt x="1546306" y="1590714"/>
                </a:lnTo>
                <a:lnTo>
                  <a:pt x="0" y="15907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 rot="-8700000">
            <a:off x="10075319" y="5811235"/>
            <a:ext cx="1546306" cy="1590714"/>
          </a:xfrm>
          <a:custGeom>
            <a:avLst/>
            <a:gdLst/>
            <a:ahLst/>
            <a:cxnLst/>
            <a:rect l="l" t="t" r="r" b="b"/>
            <a:pathLst>
              <a:path w="1546306" h="1590714">
                <a:moveTo>
                  <a:pt x="0" y="0"/>
                </a:moveTo>
                <a:lnTo>
                  <a:pt x="1546306" y="0"/>
                </a:lnTo>
                <a:lnTo>
                  <a:pt x="1546306" y="1590714"/>
                </a:lnTo>
                <a:lnTo>
                  <a:pt x="0" y="15907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 rot="-2100000">
            <a:off x="6662421" y="5811235"/>
            <a:ext cx="1546306" cy="1590714"/>
          </a:xfrm>
          <a:custGeom>
            <a:avLst/>
            <a:gdLst/>
            <a:ahLst/>
            <a:cxnLst/>
            <a:rect l="l" t="t" r="r" b="b"/>
            <a:pathLst>
              <a:path w="1546306" h="1590714">
                <a:moveTo>
                  <a:pt x="0" y="0"/>
                </a:moveTo>
                <a:lnTo>
                  <a:pt x="1546306" y="0"/>
                </a:lnTo>
                <a:lnTo>
                  <a:pt x="1546306" y="1590714"/>
                </a:lnTo>
                <a:lnTo>
                  <a:pt x="0" y="15907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 rot="8700000">
            <a:off x="10075319" y="3421498"/>
            <a:ext cx="1546306" cy="1590714"/>
          </a:xfrm>
          <a:custGeom>
            <a:avLst/>
            <a:gdLst/>
            <a:ahLst/>
            <a:cxnLst/>
            <a:rect l="l" t="t" r="r" b="b"/>
            <a:pathLst>
              <a:path w="1546306" h="1590714">
                <a:moveTo>
                  <a:pt x="0" y="0"/>
                </a:moveTo>
                <a:lnTo>
                  <a:pt x="1546306" y="0"/>
                </a:lnTo>
                <a:lnTo>
                  <a:pt x="1546306" y="1590714"/>
                </a:lnTo>
                <a:lnTo>
                  <a:pt x="0" y="15907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 rot="2700000">
            <a:off x="7596677" y="4134963"/>
            <a:ext cx="3090692" cy="3090692"/>
          </a:xfrm>
          <a:custGeom>
            <a:avLst/>
            <a:gdLst/>
            <a:ahLst/>
            <a:cxnLst/>
            <a:rect l="l" t="t" r="r" b="b"/>
            <a:pathLst>
              <a:path w="3090692" h="3090692">
                <a:moveTo>
                  <a:pt x="0" y="0"/>
                </a:moveTo>
                <a:lnTo>
                  <a:pt x="3090692" y="0"/>
                </a:lnTo>
                <a:lnTo>
                  <a:pt x="3090692" y="3090691"/>
                </a:lnTo>
                <a:lnTo>
                  <a:pt x="0" y="30906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6956574" y="3789207"/>
            <a:ext cx="386629" cy="386629"/>
          </a:xfrm>
          <a:custGeom>
            <a:avLst/>
            <a:gdLst/>
            <a:ahLst/>
            <a:cxnLst/>
            <a:rect l="l" t="t" r="r" b="b"/>
            <a:pathLst>
              <a:path w="386629" h="386629">
                <a:moveTo>
                  <a:pt x="0" y="0"/>
                </a:moveTo>
                <a:lnTo>
                  <a:pt x="386629" y="0"/>
                </a:lnTo>
                <a:lnTo>
                  <a:pt x="386629" y="386629"/>
                </a:lnTo>
                <a:lnTo>
                  <a:pt x="0" y="38662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6616099" y="5219988"/>
            <a:ext cx="322352" cy="386629"/>
          </a:xfrm>
          <a:custGeom>
            <a:avLst/>
            <a:gdLst/>
            <a:ahLst/>
            <a:cxnLst/>
            <a:rect l="l" t="t" r="r" b="b"/>
            <a:pathLst>
              <a:path w="322352" h="386629">
                <a:moveTo>
                  <a:pt x="0" y="0"/>
                </a:moveTo>
                <a:lnTo>
                  <a:pt x="322352" y="0"/>
                </a:lnTo>
                <a:lnTo>
                  <a:pt x="322352" y="386629"/>
                </a:lnTo>
                <a:lnTo>
                  <a:pt x="0" y="38662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7004902" y="6539140"/>
            <a:ext cx="289972" cy="386629"/>
          </a:xfrm>
          <a:custGeom>
            <a:avLst/>
            <a:gdLst/>
            <a:ahLst/>
            <a:cxnLst/>
            <a:rect l="l" t="t" r="r" b="b"/>
            <a:pathLst>
              <a:path w="289972" h="386629">
                <a:moveTo>
                  <a:pt x="0" y="0"/>
                </a:moveTo>
                <a:lnTo>
                  <a:pt x="289972" y="0"/>
                </a:lnTo>
                <a:lnTo>
                  <a:pt x="289972" y="386629"/>
                </a:lnTo>
                <a:lnTo>
                  <a:pt x="0" y="38662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10973223" y="3845380"/>
            <a:ext cx="354249" cy="386629"/>
          </a:xfrm>
          <a:custGeom>
            <a:avLst/>
            <a:gdLst/>
            <a:ahLst/>
            <a:cxnLst/>
            <a:rect l="l" t="t" r="r" b="b"/>
            <a:pathLst>
              <a:path w="354249" h="386629">
                <a:moveTo>
                  <a:pt x="0" y="0"/>
                </a:moveTo>
                <a:lnTo>
                  <a:pt x="354249" y="0"/>
                </a:lnTo>
                <a:lnTo>
                  <a:pt x="354249" y="386629"/>
                </a:lnTo>
                <a:lnTo>
                  <a:pt x="0" y="386629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1327472" y="5219988"/>
            <a:ext cx="386629" cy="386629"/>
          </a:xfrm>
          <a:custGeom>
            <a:avLst/>
            <a:gdLst/>
            <a:ahLst/>
            <a:cxnLst/>
            <a:rect l="l" t="t" r="r" b="b"/>
            <a:pathLst>
              <a:path w="386629" h="386629">
                <a:moveTo>
                  <a:pt x="0" y="0"/>
                </a:moveTo>
                <a:lnTo>
                  <a:pt x="386629" y="0"/>
                </a:lnTo>
                <a:lnTo>
                  <a:pt x="386629" y="386629"/>
                </a:lnTo>
                <a:lnTo>
                  <a:pt x="0" y="386629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0848472" y="6539140"/>
            <a:ext cx="386629" cy="370680"/>
          </a:xfrm>
          <a:custGeom>
            <a:avLst/>
            <a:gdLst/>
            <a:ahLst/>
            <a:cxnLst/>
            <a:rect l="l" t="t" r="r" b="b"/>
            <a:pathLst>
              <a:path w="386629" h="370680">
                <a:moveTo>
                  <a:pt x="0" y="0"/>
                </a:moveTo>
                <a:lnTo>
                  <a:pt x="386629" y="0"/>
                </a:lnTo>
                <a:lnTo>
                  <a:pt x="386629" y="370680"/>
                </a:lnTo>
                <a:lnTo>
                  <a:pt x="0" y="37068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6"/>
          <p:cNvSpPr txBox="1"/>
          <p:nvPr/>
        </p:nvSpPr>
        <p:spPr>
          <a:xfrm>
            <a:off x="7944831" y="4948702"/>
            <a:ext cx="2394384" cy="103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370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Second Party Advisory​</a:t>
            </a:r>
          </a:p>
          <a:p>
            <a:pPr algn="ctr">
              <a:lnSpc>
                <a:spcPts val="1919"/>
              </a:lnSpc>
            </a:pPr>
            <a:r>
              <a:rPr lang="en-US" sz="1370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&amp; Verification Services </a:t>
            </a:r>
          </a:p>
          <a:p>
            <a:pPr algn="ctr">
              <a:lnSpc>
                <a:spcPts val="519"/>
              </a:lnSpc>
            </a:pPr>
            <a:endParaRPr lang="en-US" sz="1370" b="1">
              <a:solidFill>
                <a:srgbClr val="000000"/>
              </a:solidFill>
              <a:latin typeface="Open Sans Semi-Bold"/>
              <a:ea typeface="Open Sans Semi-Bold"/>
              <a:cs typeface="Open Sans Semi-Bold"/>
              <a:sym typeface="Open Sans Semi-Bold"/>
            </a:endParaRPr>
          </a:p>
          <a:p>
            <a:pPr algn="ctr">
              <a:lnSpc>
                <a:spcPts val="1919"/>
              </a:lnSpc>
            </a:pPr>
            <a:r>
              <a:rPr lang="en-US" sz="1370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Integrated​</a:t>
            </a:r>
          </a:p>
          <a:p>
            <a:pPr algn="ctr">
              <a:lnSpc>
                <a:spcPts val="1919"/>
              </a:lnSpc>
              <a:spcBef>
                <a:spcPct val="0"/>
              </a:spcBef>
            </a:pPr>
            <a:r>
              <a:rPr lang="en-US" sz="1370" b="1">
                <a:solidFill>
                  <a:srgbClr val="00000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Safety &amp; Security​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73069" y="2835456"/>
            <a:ext cx="2571750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Full Safety Lifecycle​</a:t>
            </a:r>
          </a:p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Coverage​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73069" y="3523160"/>
            <a:ext cx="3778807" cy="1231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Integrated advisory services​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spanning risk analysis, protection​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design, system validation, and ongoing​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operational support.​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endParaRPr lang="en-US" sz="14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198391" y="2756000"/>
            <a:ext cx="439871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Risk Analysis &amp; Protection​</a:t>
            </a:r>
          </a:p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Layer Design​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20934" y="3532600"/>
            <a:ext cx="3176168" cy="983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Perform Quantitative Risk​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Analysis (QRA) to assess Major​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Accident Hazards (MAH) and design robust​ protection layers.​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73069" y="5159467"/>
            <a:ext cx="309312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Operations and Maintenance​ Support​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73069" y="5845267"/>
            <a:ext cx="3093122" cy="9836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Deliver operator training on​</a:t>
            </a:r>
          </a:p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functional safety and support close-​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 of independent Functional Safety​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Assessment (FSA) recommendations.​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41918" y="5134263"/>
            <a:ext cx="328645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Allocation of Safety​</a:t>
            </a:r>
          </a:p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&amp; Security Functions​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198391" y="5915313"/>
            <a:ext cx="4429982" cy="73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Provide training on Risk Graph and​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LOPA; review SIF architecture to​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identify common cause failures.​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73069" y="7483479"/>
            <a:ext cx="3410929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Installation, Commissioning &amp; Validation</a:t>
            </a:r>
          </a:p>
          <a:p>
            <a:pPr algn="l">
              <a:lnSpc>
                <a:spcPts val="2160"/>
              </a:lnSpc>
            </a:pPr>
            <a:endParaRPr lang="en-US" sz="18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773069" y="8171183"/>
            <a:ext cx="3410929" cy="735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Advise on Site Acceptance Testing (SAT)​</a:t>
            </a:r>
          </a:p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procedures and conduct walk-throughs of​ proof test procedures.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3151330" y="7434584"/>
            <a:ext cx="3477042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160"/>
              </a:lnSpc>
            </a:pPr>
            <a:r>
              <a:rPr lang="en-US" sz="18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Design &amp; Engineering of the Safety Instrumented System </a:t>
            </a:r>
          </a:p>
          <a:p>
            <a:pPr algn="r">
              <a:lnSpc>
                <a:spcPts val="2160"/>
              </a:lnSpc>
            </a:pPr>
            <a:endParaRPr lang="en-US" sz="1800" b="1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913095" y="8171182"/>
            <a:ext cx="3715277" cy="73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Review vendor competency, SRS​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documents, and SIL certificates for​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compliance with IEC 61508​ and IEC 61511.​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476500" y="1730809"/>
            <a:ext cx="13335000" cy="396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 safeguard against hazards resulting from faulty and interrupted functionality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25942" y="2604488"/>
            <a:ext cx="901283" cy="75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9"/>
              </a:lnSpc>
              <a:spcBef>
                <a:spcPct val="0"/>
              </a:spcBef>
            </a:pPr>
            <a:r>
              <a:rPr lang="en-US" sz="4406" spc="141">
                <a:gradFill>
                  <a:gsLst>
                    <a:gs pos="0">
                      <a:srgbClr val="6BCE22">
                        <a:alpha val="100000"/>
                      </a:srgbClr>
                    </a:gs>
                    <a:gs pos="100000">
                      <a:srgbClr val="8ED48E">
                        <a:alpha val="100000"/>
                      </a:srgbClr>
                    </a:gs>
                  </a:gsLst>
                  <a:lin ang="2700000"/>
                </a:gradFill>
                <a:latin typeface="Open Sans"/>
                <a:ea typeface="Open Sans"/>
                <a:cs typeface="Open Sans"/>
                <a:sym typeface="Open Sans"/>
              </a:rPr>
              <a:t>|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25942" y="4928499"/>
            <a:ext cx="901283" cy="75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9"/>
              </a:lnSpc>
              <a:spcBef>
                <a:spcPct val="0"/>
              </a:spcBef>
            </a:pPr>
            <a:r>
              <a:rPr lang="en-US" sz="4406" spc="141">
                <a:gradFill>
                  <a:gsLst>
                    <a:gs pos="0">
                      <a:srgbClr val="6BCE22">
                        <a:alpha val="100000"/>
                      </a:srgbClr>
                    </a:gs>
                    <a:gs pos="100000">
                      <a:srgbClr val="8ED48E">
                        <a:alpha val="100000"/>
                      </a:srgbClr>
                    </a:gs>
                  </a:gsLst>
                  <a:lin ang="2700000"/>
                </a:gradFill>
                <a:latin typeface="Open Sans"/>
                <a:ea typeface="Open Sans"/>
                <a:cs typeface="Open Sans"/>
                <a:sym typeface="Open Sans"/>
              </a:rPr>
              <a:t>|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25942" y="7281289"/>
            <a:ext cx="901283" cy="75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9"/>
              </a:lnSpc>
              <a:spcBef>
                <a:spcPct val="0"/>
              </a:spcBef>
            </a:pPr>
            <a:r>
              <a:rPr lang="en-US" sz="4406" spc="141">
                <a:gradFill>
                  <a:gsLst>
                    <a:gs pos="0">
                      <a:srgbClr val="6BCE22">
                        <a:alpha val="100000"/>
                      </a:srgbClr>
                    </a:gs>
                    <a:gs pos="100000">
                      <a:srgbClr val="8ED48E">
                        <a:alpha val="100000"/>
                      </a:srgbClr>
                    </a:gs>
                  </a:gsLst>
                  <a:lin ang="2700000"/>
                </a:gradFill>
                <a:latin typeface="Open Sans"/>
                <a:ea typeface="Open Sans"/>
                <a:cs typeface="Open Sans"/>
                <a:sym typeface="Open Sans"/>
              </a:rPr>
              <a:t>|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358017" y="2525032"/>
            <a:ext cx="901283" cy="75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9"/>
              </a:lnSpc>
              <a:spcBef>
                <a:spcPct val="0"/>
              </a:spcBef>
            </a:pPr>
            <a:r>
              <a:rPr lang="en-US" sz="4406" spc="141">
                <a:gradFill>
                  <a:gsLst>
                    <a:gs pos="0">
                      <a:srgbClr val="6BCE22">
                        <a:alpha val="100000"/>
                      </a:srgbClr>
                    </a:gs>
                    <a:gs pos="100000">
                      <a:srgbClr val="8ED48E">
                        <a:alpha val="100000"/>
                      </a:srgbClr>
                    </a:gs>
                  </a:gsLst>
                  <a:lin ang="2700000"/>
                </a:gradFill>
                <a:latin typeface="Open Sans"/>
                <a:ea typeface="Open Sans"/>
                <a:cs typeface="Open Sans"/>
                <a:sym typeface="Open Sans"/>
              </a:rPr>
              <a:t>|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358017" y="4891552"/>
            <a:ext cx="901283" cy="75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9"/>
              </a:lnSpc>
              <a:spcBef>
                <a:spcPct val="0"/>
              </a:spcBef>
            </a:pPr>
            <a:r>
              <a:rPr lang="en-US" sz="4406" spc="141">
                <a:gradFill>
                  <a:gsLst>
                    <a:gs pos="0">
                      <a:srgbClr val="6BCE22">
                        <a:alpha val="100000"/>
                      </a:srgbClr>
                    </a:gs>
                    <a:gs pos="100000">
                      <a:srgbClr val="8ED48E">
                        <a:alpha val="100000"/>
                      </a:srgbClr>
                    </a:gs>
                  </a:gsLst>
                  <a:lin ang="2700000"/>
                </a:gradFill>
                <a:latin typeface="Open Sans"/>
                <a:ea typeface="Open Sans"/>
                <a:cs typeface="Open Sans"/>
                <a:sym typeface="Open Sans"/>
              </a:rPr>
              <a:t>|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6358017" y="7228026"/>
            <a:ext cx="901283" cy="7548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9"/>
              </a:lnSpc>
              <a:spcBef>
                <a:spcPct val="0"/>
              </a:spcBef>
            </a:pPr>
            <a:r>
              <a:rPr lang="en-US" sz="4406" spc="141">
                <a:gradFill>
                  <a:gsLst>
                    <a:gs pos="0">
                      <a:srgbClr val="6BCE22">
                        <a:alpha val="100000"/>
                      </a:srgbClr>
                    </a:gs>
                    <a:gs pos="100000">
                      <a:srgbClr val="8ED48E">
                        <a:alpha val="100000"/>
                      </a:srgbClr>
                    </a:gs>
                  </a:gsLst>
                  <a:lin ang="2700000"/>
                </a:gradFill>
                <a:latin typeface="Open Sans"/>
                <a:ea typeface="Open Sans"/>
                <a:cs typeface="Open Sans"/>
                <a:sym typeface="Open Sans"/>
              </a:rPr>
              <a:t>|</a:t>
            </a:r>
          </a:p>
        </p:txBody>
      </p:sp>
      <p:sp>
        <p:nvSpPr>
          <p:cNvPr id="36" name="Freeform 36"/>
          <p:cNvSpPr/>
          <p:nvPr/>
        </p:nvSpPr>
        <p:spPr>
          <a:xfrm>
            <a:off x="1028700" y="465236"/>
            <a:ext cx="1110426" cy="563464"/>
          </a:xfrm>
          <a:custGeom>
            <a:avLst/>
            <a:gdLst/>
            <a:ahLst/>
            <a:cxnLst/>
            <a:rect l="l" t="t" r="r" b="b"/>
            <a:pathLst>
              <a:path w="1110426" h="563464">
                <a:moveTo>
                  <a:pt x="0" y="0"/>
                </a:moveTo>
                <a:lnTo>
                  <a:pt x="1110426" y="0"/>
                </a:lnTo>
                <a:lnTo>
                  <a:pt x="1110426" y="563464"/>
                </a:lnTo>
                <a:lnTo>
                  <a:pt x="0" y="563464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r="-20675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7" name="TextBox 37"/>
          <p:cNvSpPr txBox="1"/>
          <p:nvPr/>
        </p:nvSpPr>
        <p:spPr>
          <a:xfrm>
            <a:off x="2261926" y="488551"/>
            <a:ext cx="1793384" cy="48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14"/>
              </a:lnSpc>
              <a:spcBef>
                <a:spcPct val="0"/>
              </a:spcBef>
            </a:pPr>
            <a:r>
              <a:rPr lang="en-US" sz="2909" spc="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Apeiron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717217" y="4362061"/>
            <a:ext cx="4099261" cy="558524"/>
          </a:xfrm>
          <a:custGeom>
            <a:avLst/>
            <a:gdLst/>
            <a:ahLst/>
            <a:cxnLst/>
            <a:rect l="l" t="t" r="r" b="b"/>
            <a:pathLst>
              <a:path w="4099261" h="558524">
                <a:moveTo>
                  <a:pt x="4099261" y="0"/>
                </a:moveTo>
                <a:lnTo>
                  <a:pt x="0" y="0"/>
                </a:lnTo>
                <a:lnTo>
                  <a:pt x="0" y="558525"/>
                </a:lnTo>
                <a:lnTo>
                  <a:pt x="4099261" y="558525"/>
                </a:lnTo>
                <a:lnTo>
                  <a:pt x="4099261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 flipH="1">
            <a:off x="1717217" y="7475208"/>
            <a:ext cx="4099261" cy="558524"/>
          </a:xfrm>
          <a:custGeom>
            <a:avLst/>
            <a:gdLst/>
            <a:ahLst/>
            <a:cxnLst/>
            <a:rect l="l" t="t" r="r" b="b"/>
            <a:pathLst>
              <a:path w="4099261" h="558524">
                <a:moveTo>
                  <a:pt x="4099261" y="0"/>
                </a:moveTo>
                <a:lnTo>
                  <a:pt x="0" y="0"/>
                </a:lnTo>
                <a:lnTo>
                  <a:pt x="0" y="558525"/>
                </a:lnTo>
                <a:lnTo>
                  <a:pt x="4099261" y="558525"/>
                </a:lnTo>
                <a:lnTo>
                  <a:pt x="4099261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flipH="1">
            <a:off x="7018431" y="4362061"/>
            <a:ext cx="4099261" cy="558524"/>
          </a:xfrm>
          <a:custGeom>
            <a:avLst/>
            <a:gdLst/>
            <a:ahLst/>
            <a:cxnLst/>
            <a:rect l="l" t="t" r="r" b="b"/>
            <a:pathLst>
              <a:path w="4099261" h="558524">
                <a:moveTo>
                  <a:pt x="4099261" y="0"/>
                </a:moveTo>
                <a:lnTo>
                  <a:pt x="0" y="0"/>
                </a:lnTo>
                <a:lnTo>
                  <a:pt x="0" y="558525"/>
                </a:lnTo>
                <a:lnTo>
                  <a:pt x="4099261" y="558525"/>
                </a:lnTo>
                <a:lnTo>
                  <a:pt x="4099261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 flipH="1">
            <a:off x="7018431" y="7475208"/>
            <a:ext cx="4099261" cy="558524"/>
          </a:xfrm>
          <a:custGeom>
            <a:avLst/>
            <a:gdLst/>
            <a:ahLst/>
            <a:cxnLst/>
            <a:rect l="l" t="t" r="r" b="b"/>
            <a:pathLst>
              <a:path w="4099261" h="558524">
                <a:moveTo>
                  <a:pt x="4099261" y="0"/>
                </a:moveTo>
                <a:lnTo>
                  <a:pt x="0" y="0"/>
                </a:lnTo>
                <a:lnTo>
                  <a:pt x="0" y="558525"/>
                </a:lnTo>
                <a:lnTo>
                  <a:pt x="4099261" y="558525"/>
                </a:lnTo>
                <a:lnTo>
                  <a:pt x="4099261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1717217" y="2642624"/>
            <a:ext cx="4270619" cy="1970136"/>
            <a:chOff x="0" y="0"/>
            <a:chExt cx="1124772" cy="5188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24772" cy="518884"/>
            </a:xfrm>
            <a:custGeom>
              <a:avLst/>
              <a:gdLst/>
              <a:ahLst/>
              <a:cxnLst/>
              <a:rect l="l" t="t" r="r" b="b"/>
              <a:pathLst>
                <a:path w="1124772" h="518884">
                  <a:moveTo>
                    <a:pt x="43508" y="0"/>
                  </a:moveTo>
                  <a:lnTo>
                    <a:pt x="1081264" y="0"/>
                  </a:lnTo>
                  <a:cubicBezTo>
                    <a:pt x="1105293" y="0"/>
                    <a:pt x="1124772" y="19479"/>
                    <a:pt x="1124772" y="43508"/>
                  </a:cubicBezTo>
                  <a:lnTo>
                    <a:pt x="1124772" y="475376"/>
                  </a:lnTo>
                  <a:cubicBezTo>
                    <a:pt x="1124772" y="486915"/>
                    <a:pt x="1120188" y="497981"/>
                    <a:pt x="1112029" y="506140"/>
                  </a:cubicBezTo>
                  <a:cubicBezTo>
                    <a:pt x="1103870" y="514300"/>
                    <a:pt x="1092803" y="518884"/>
                    <a:pt x="1081264" y="518884"/>
                  </a:cubicBezTo>
                  <a:lnTo>
                    <a:pt x="43508" y="518884"/>
                  </a:lnTo>
                  <a:cubicBezTo>
                    <a:pt x="31969" y="518884"/>
                    <a:pt x="20903" y="514300"/>
                    <a:pt x="12743" y="506140"/>
                  </a:cubicBezTo>
                  <a:cubicBezTo>
                    <a:pt x="4584" y="497981"/>
                    <a:pt x="0" y="486915"/>
                    <a:pt x="0" y="475376"/>
                  </a:cubicBezTo>
                  <a:lnTo>
                    <a:pt x="0" y="43508"/>
                  </a:lnTo>
                  <a:cubicBezTo>
                    <a:pt x="0" y="31969"/>
                    <a:pt x="4584" y="20903"/>
                    <a:pt x="12743" y="12743"/>
                  </a:cubicBezTo>
                  <a:cubicBezTo>
                    <a:pt x="20903" y="4584"/>
                    <a:pt x="31969" y="0"/>
                    <a:pt x="43508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1124772" cy="54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17217" y="5755771"/>
            <a:ext cx="4680194" cy="1970136"/>
            <a:chOff x="0" y="0"/>
            <a:chExt cx="1232644" cy="5188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32644" cy="518884"/>
            </a:xfrm>
            <a:custGeom>
              <a:avLst/>
              <a:gdLst/>
              <a:ahLst/>
              <a:cxnLst/>
              <a:rect l="l" t="t" r="r" b="b"/>
              <a:pathLst>
                <a:path w="1232644" h="518884">
                  <a:moveTo>
                    <a:pt x="39701" y="0"/>
                  </a:moveTo>
                  <a:lnTo>
                    <a:pt x="1192943" y="0"/>
                  </a:lnTo>
                  <a:cubicBezTo>
                    <a:pt x="1214869" y="0"/>
                    <a:pt x="1232644" y="17775"/>
                    <a:pt x="1232644" y="39701"/>
                  </a:cubicBezTo>
                  <a:lnTo>
                    <a:pt x="1232644" y="479183"/>
                  </a:lnTo>
                  <a:cubicBezTo>
                    <a:pt x="1232644" y="489712"/>
                    <a:pt x="1228461" y="499810"/>
                    <a:pt x="1221016" y="507256"/>
                  </a:cubicBezTo>
                  <a:cubicBezTo>
                    <a:pt x="1213570" y="514701"/>
                    <a:pt x="1203472" y="518884"/>
                    <a:pt x="1192943" y="518884"/>
                  </a:cubicBezTo>
                  <a:lnTo>
                    <a:pt x="39701" y="518884"/>
                  </a:lnTo>
                  <a:cubicBezTo>
                    <a:pt x="17775" y="518884"/>
                    <a:pt x="0" y="501109"/>
                    <a:pt x="0" y="479183"/>
                  </a:cubicBezTo>
                  <a:lnTo>
                    <a:pt x="0" y="39701"/>
                  </a:lnTo>
                  <a:cubicBezTo>
                    <a:pt x="0" y="17775"/>
                    <a:pt x="17775" y="0"/>
                    <a:pt x="3970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232644" cy="54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018431" y="2642624"/>
            <a:ext cx="4327059" cy="1970136"/>
            <a:chOff x="0" y="0"/>
            <a:chExt cx="1139637" cy="5188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39637" cy="518884"/>
            </a:xfrm>
            <a:custGeom>
              <a:avLst/>
              <a:gdLst/>
              <a:ahLst/>
              <a:cxnLst/>
              <a:rect l="l" t="t" r="r" b="b"/>
              <a:pathLst>
                <a:path w="1139637" h="518884">
                  <a:moveTo>
                    <a:pt x="42940" y="0"/>
                  </a:moveTo>
                  <a:lnTo>
                    <a:pt x="1096697" y="0"/>
                  </a:lnTo>
                  <a:cubicBezTo>
                    <a:pt x="1120412" y="0"/>
                    <a:pt x="1139637" y="19225"/>
                    <a:pt x="1139637" y="42940"/>
                  </a:cubicBezTo>
                  <a:lnTo>
                    <a:pt x="1139637" y="475943"/>
                  </a:lnTo>
                  <a:cubicBezTo>
                    <a:pt x="1139637" y="487332"/>
                    <a:pt x="1135113" y="498254"/>
                    <a:pt x="1127060" y="506307"/>
                  </a:cubicBezTo>
                  <a:cubicBezTo>
                    <a:pt x="1119007" y="514360"/>
                    <a:pt x="1108085" y="518884"/>
                    <a:pt x="1096697" y="518884"/>
                  </a:cubicBezTo>
                  <a:lnTo>
                    <a:pt x="42940" y="518884"/>
                  </a:lnTo>
                  <a:cubicBezTo>
                    <a:pt x="31552" y="518884"/>
                    <a:pt x="20630" y="514360"/>
                    <a:pt x="12577" y="506307"/>
                  </a:cubicBezTo>
                  <a:cubicBezTo>
                    <a:pt x="4524" y="498254"/>
                    <a:pt x="0" y="487332"/>
                    <a:pt x="0" y="475943"/>
                  </a:cubicBezTo>
                  <a:lnTo>
                    <a:pt x="0" y="42940"/>
                  </a:lnTo>
                  <a:cubicBezTo>
                    <a:pt x="0" y="31552"/>
                    <a:pt x="4524" y="20630"/>
                    <a:pt x="12577" y="12577"/>
                  </a:cubicBezTo>
                  <a:cubicBezTo>
                    <a:pt x="20630" y="4524"/>
                    <a:pt x="31552" y="0"/>
                    <a:pt x="4294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139637" cy="54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18431" y="5755771"/>
            <a:ext cx="4428579" cy="1970136"/>
            <a:chOff x="0" y="0"/>
            <a:chExt cx="1166375" cy="5188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66375" cy="518884"/>
            </a:xfrm>
            <a:custGeom>
              <a:avLst/>
              <a:gdLst/>
              <a:ahLst/>
              <a:cxnLst/>
              <a:rect l="l" t="t" r="r" b="b"/>
              <a:pathLst>
                <a:path w="1166375" h="518884">
                  <a:moveTo>
                    <a:pt x="41956" y="0"/>
                  </a:moveTo>
                  <a:lnTo>
                    <a:pt x="1124419" y="0"/>
                  </a:lnTo>
                  <a:cubicBezTo>
                    <a:pt x="1135546" y="0"/>
                    <a:pt x="1146218" y="4420"/>
                    <a:pt x="1154086" y="12289"/>
                  </a:cubicBezTo>
                  <a:cubicBezTo>
                    <a:pt x="1161954" y="20157"/>
                    <a:pt x="1166375" y="30829"/>
                    <a:pt x="1166375" y="41956"/>
                  </a:cubicBezTo>
                  <a:lnTo>
                    <a:pt x="1166375" y="476927"/>
                  </a:lnTo>
                  <a:cubicBezTo>
                    <a:pt x="1166375" y="500099"/>
                    <a:pt x="1147590" y="518884"/>
                    <a:pt x="1124419" y="518884"/>
                  </a:cubicBezTo>
                  <a:lnTo>
                    <a:pt x="41956" y="518884"/>
                  </a:lnTo>
                  <a:cubicBezTo>
                    <a:pt x="18784" y="518884"/>
                    <a:pt x="0" y="500099"/>
                    <a:pt x="0" y="476927"/>
                  </a:cubicBezTo>
                  <a:lnTo>
                    <a:pt x="0" y="41956"/>
                  </a:lnTo>
                  <a:cubicBezTo>
                    <a:pt x="0" y="18784"/>
                    <a:pt x="18784" y="0"/>
                    <a:pt x="41956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166375" cy="54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flipH="1">
            <a:off x="12509343" y="4362061"/>
            <a:ext cx="4099261" cy="558524"/>
          </a:xfrm>
          <a:custGeom>
            <a:avLst/>
            <a:gdLst/>
            <a:ahLst/>
            <a:cxnLst/>
            <a:rect l="l" t="t" r="r" b="b"/>
            <a:pathLst>
              <a:path w="4099261" h="558524">
                <a:moveTo>
                  <a:pt x="4099261" y="0"/>
                </a:moveTo>
                <a:lnTo>
                  <a:pt x="0" y="0"/>
                </a:lnTo>
                <a:lnTo>
                  <a:pt x="0" y="558525"/>
                </a:lnTo>
                <a:lnTo>
                  <a:pt x="4099261" y="558525"/>
                </a:lnTo>
                <a:lnTo>
                  <a:pt x="4099261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 flipH="1">
            <a:off x="12509343" y="7475208"/>
            <a:ext cx="4099261" cy="558524"/>
          </a:xfrm>
          <a:custGeom>
            <a:avLst/>
            <a:gdLst/>
            <a:ahLst/>
            <a:cxnLst/>
            <a:rect l="l" t="t" r="r" b="b"/>
            <a:pathLst>
              <a:path w="4099261" h="558524">
                <a:moveTo>
                  <a:pt x="4099261" y="0"/>
                </a:moveTo>
                <a:lnTo>
                  <a:pt x="0" y="0"/>
                </a:lnTo>
                <a:lnTo>
                  <a:pt x="0" y="558525"/>
                </a:lnTo>
                <a:lnTo>
                  <a:pt x="4099261" y="558525"/>
                </a:lnTo>
                <a:lnTo>
                  <a:pt x="4099261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0" name="Group 20"/>
          <p:cNvGrpSpPr/>
          <p:nvPr/>
        </p:nvGrpSpPr>
        <p:grpSpPr>
          <a:xfrm>
            <a:off x="12509343" y="2642624"/>
            <a:ext cx="4472635" cy="1970136"/>
            <a:chOff x="0" y="0"/>
            <a:chExt cx="1177978" cy="5188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77978" cy="518884"/>
            </a:xfrm>
            <a:custGeom>
              <a:avLst/>
              <a:gdLst/>
              <a:ahLst/>
              <a:cxnLst/>
              <a:rect l="l" t="t" r="r" b="b"/>
              <a:pathLst>
                <a:path w="1177978" h="518884">
                  <a:moveTo>
                    <a:pt x="41543" y="0"/>
                  </a:moveTo>
                  <a:lnTo>
                    <a:pt x="1136435" y="0"/>
                  </a:lnTo>
                  <a:cubicBezTo>
                    <a:pt x="1159379" y="0"/>
                    <a:pt x="1177978" y="18599"/>
                    <a:pt x="1177978" y="41543"/>
                  </a:cubicBezTo>
                  <a:lnTo>
                    <a:pt x="1177978" y="477341"/>
                  </a:lnTo>
                  <a:cubicBezTo>
                    <a:pt x="1177978" y="500284"/>
                    <a:pt x="1159379" y="518884"/>
                    <a:pt x="1136435" y="518884"/>
                  </a:cubicBezTo>
                  <a:lnTo>
                    <a:pt x="41543" y="518884"/>
                  </a:lnTo>
                  <a:cubicBezTo>
                    <a:pt x="18599" y="518884"/>
                    <a:pt x="0" y="500284"/>
                    <a:pt x="0" y="477341"/>
                  </a:cubicBezTo>
                  <a:lnTo>
                    <a:pt x="0" y="41543"/>
                  </a:lnTo>
                  <a:cubicBezTo>
                    <a:pt x="0" y="18599"/>
                    <a:pt x="18599" y="0"/>
                    <a:pt x="4154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177978" cy="54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509343" y="5755771"/>
            <a:ext cx="4472635" cy="1970136"/>
            <a:chOff x="0" y="0"/>
            <a:chExt cx="1177978" cy="5188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177978" cy="518884"/>
            </a:xfrm>
            <a:custGeom>
              <a:avLst/>
              <a:gdLst/>
              <a:ahLst/>
              <a:cxnLst/>
              <a:rect l="l" t="t" r="r" b="b"/>
              <a:pathLst>
                <a:path w="1177978" h="518884">
                  <a:moveTo>
                    <a:pt x="41543" y="0"/>
                  </a:moveTo>
                  <a:lnTo>
                    <a:pt x="1136435" y="0"/>
                  </a:lnTo>
                  <a:cubicBezTo>
                    <a:pt x="1159379" y="0"/>
                    <a:pt x="1177978" y="18599"/>
                    <a:pt x="1177978" y="41543"/>
                  </a:cubicBezTo>
                  <a:lnTo>
                    <a:pt x="1177978" y="477341"/>
                  </a:lnTo>
                  <a:cubicBezTo>
                    <a:pt x="1177978" y="500284"/>
                    <a:pt x="1159379" y="518884"/>
                    <a:pt x="1136435" y="518884"/>
                  </a:cubicBezTo>
                  <a:lnTo>
                    <a:pt x="41543" y="518884"/>
                  </a:lnTo>
                  <a:cubicBezTo>
                    <a:pt x="18599" y="518884"/>
                    <a:pt x="0" y="500284"/>
                    <a:pt x="0" y="477341"/>
                  </a:cubicBezTo>
                  <a:lnTo>
                    <a:pt x="0" y="41543"/>
                  </a:lnTo>
                  <a:cubicBezTo>
                    <a:pt x="0" y="18599"/>
                    <a:pt x="18599" y="0"/>
                    <a:pt x="4154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177978" cy="547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28700" y="3384073"/>
            <a:ext cx="956011" cy="956011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006F74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92661" y="3384073"/>
            <a:ext cx="956011" cy="956011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49A9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907465" y="3384073"/>
            <a:ext cx="956011" cy="956011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6ACB2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28700" y="6485902"/>
            <a:ext cx="956011" cy="956011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77AD3C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492661" y="6485902"/>
            <a:ext cx="956011" cy="956011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49A900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907465" y="6485902"/>
            <a:ext cx="956011" cy="956011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solidFill>
                <a:srgbClr val="0F7945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79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>
            <a:off x="1296194" y="3651567"/>
            <a:ext cx="421023" cy="421023"/>
          </a:xfrm>
          <a:custGeom>
            <a:avLst/>
            <a:gdLst/>
            <a:ahLst/>
            <a:cxnLst/>
            <a:rect l="l" t="t" r="r" b="b"/>
            <a:pathLst>
              <a:path w="421023" h="421023">
                <a:moveTo>
                  <a:pt x="0" y="0"/>
                </a:moveTo>
                <a:lnTo>
                  <a:pt x="421023" y="0"/>
                </a:lnTo>
                <a:lnTo>
                  <a:pt x="421023" y="421023"/>
                </a:lnTo>
                <a:lnTo>
                  <a:pt x="0" y="4210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5" name="Freeform 45"/>
          <p:cNvSpPr/>
          <p:nvPr/>
        </p:nvSpPr>
        <p:spPr>
          <a:xfrm>
            <a:off x="12205512" y="6748009"/>
            <a:ext cx="359918" cy="431686"/>
          </a:xfrm>
          <a:custGeom>
            <a:avLst/>
            <a:gdLst/>
            <a:ahLst/>
            <a:cxnLst/>
            <a:rect l="l" t="t" r="r" b="b"/>
            <a:pathLst>
              <a:path w="359918" h="431686">
                <a:moveTo>
                  <a:pt x="0" y="0"/>
                </a:moveTo>
                <a:lnTo>
                  <a:pt x="359918" y="0"/>
                </a:lnTo>
                <a:lnTo>
                  <a:pt x="359918" y="431685"/>
                </a:lnTo>
                <a:lnTo>
                  <a:pt x="0" y="4316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Freeform 46"/>
          <p:cNvSpPr/>
          <p:nvPr/>
        </p:nvSpPr>
        <p:spPr>
          <a:xfrm>
            <a:off x="6759655" y="3651567"/>
            <a:ext cx="426799" cy="363943"/>
          </a:xfrm>
          <a:custGeom>
            <a:avLst/>
            <a:gdLst/>
            <a:ahLst/>
            <a:cxnLst/>
            <a:rect l="l" t="t" r="r" b="b"/>
            <a:pathLst>
              <a:path w="426799" h="363943">
                <a:moveTo>
                  <a:pt x="0" y="0"/>
                </a:moveTo>
                <a:lnTo>
                  <a:pt x="426799" y="0"/>
                </a:lnTo>
                <a:lnTo>
                  <a:pt x="426799" y="363943"/>
                </a:lnTo>
                <a:lnTo>
                  <a:pt x="0" y="36394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7" name="Freeform 47"/>
          <p:cNvSpPr/>
          <p:nvPr/>
        </p:nvSpPr>
        <p:spPr>
          <a:xfrm>
            <a:off x="12169325" y="3645932"/>
            <a:ext cx="432292" cy="432292"/>
          </a:xfrm>
          <a:custGeom>
            <a:avLst/>
            <a:gdLst/>
            <a:ahLst/>
            <a:cxnLst/>
            <a:rect l="l" t="t" r="r" b="b"/>
            <a:pathLst>
              <a:path w="432292" h="432292">
                <a:moveTo>
                  <a:pt x="0" y="0"/>
                </a:moveTo>
                <a:lnTo>
                  <a:pt x="432292" y="0"/>
                </a:lnTo>
                <a:lnTo>
                  <a:pt x="432292" y="432292"/>
                </a:lnTo>
                <a:lnTo>
                  <a:pt x="0" y="43229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8" name="Freeform 48"/>
          <p:cNvSpPr/>
          <p:nvPr/>
        </p:nvSpPr>
        <p:spPr>
          <a:xfrm>
            <a:off x="1263326" y="6719137"/>
            <a:ext cx="486760" cy="489430"/>
          </a:xfrm>
          <a:custGeom>
            <a:avLst/>
            <a:gdLst/>
            <a:ahLst/>
            <a:cxnLst/>
            <a:rect l="l" t="t" r="r" b="b"/>
            <a:pathLst>
              <a:path w="486760" h="489430">
                <a:moveTo>
                  <a:pt x="0" y="0"/>
                </a:moveTo>
                <a:lnTo>
                  <a:pt x="486760" y="0"/>
                </a:lnTo>
                <a:lnTo>
                  <a:pt x="486760" y="489429"/>
                </a:lnTo>
                <a:lnTo>
                  <a:pt x="0" y="48942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9" name="Freeform 49"/>
          <p:cNvSpPr/>
          <p:nvPr/>
        </p:nvSpPr>
        <p:spPr>
          <a:xfrm>
            <a:off x="6707070" y="6700310"/>
            <a:ext cx="527195" cy="527195"/>
          </a:xfrm>
          <a:custGeom>
            <a:avLst/>
            <a:gdLst/>
            <a:ahLst/>
            <a:cxnLst/>
            <a:rect l="l" t="t" r="r" b="b"/>
            <a:pathLst>
              <a:path w="527195" h="527195">
                <a:moveTo>
                  <a:pt x="0" y="0"/>
                </a:moveTo>
                <a:lnTo>
                  <a:pt x="527194" y="0"/>
                </a:lnTo>
                <a:lnTo>
                  <a:pt x="527194" y="527195"/>
                </a:lnTo>
                <a:lnTo>
                  <a:pt x="0" y="5271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0" name="TextBox 50"/>
          <p:cNvSpPr txBox="1"/>
          <p:nvPr/>
        </p:nvSpPr>
        <p:spPr>
          <a:xfrm>
            <a:off x="990600" y="847725"/>
            <a:ext cx="16306800" cy="8801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9"/>
              </a:lnSpc>
              <a:spcBef>
                <a:spcPct val="0"/>
              </a:spcBef>
            </a:pPr>
            <a:r>
              <a:rPr lang="en-US" sz="5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Services - Functional Safety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700284" y="9017635"/>
            <a:ext cx="1135677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6F74"/>
                </a:solidFill>
                <a:latin typeface="Open Sans"/>
                <a:ea typeface="Open Sans"/>
                <a:cs typeface="Open Sans"/>
                <a:sym typeface="Open Sans"/>
              </a:rPr>
              <a:t>Apeiron has strategic partnerships, including a key alliance with DNV, for advanced Functional Safety &amp; Cybersecurity.​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340007" y="2804549"/>
            <a:ext cx="263147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006F7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SIL VERIFICATION​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340007" y="5917696"/>
            <a:ext cx="2867603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77AD3C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LIFECYCLE MANAGEMENT​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736069" y="2804549"/>
            <a:ext cx="263147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49A9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HAZOP &amp; LOPA​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736069" y="5917696"/>
            <a:ext cx="2916868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49A9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ASSESSMENTS &amp; TRAINING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2340007" y="3428112"/>
            <a:ext cx="3866905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Rigorous SIL verification using​</a:t>
            </a:r>
          </a:p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exSILentia tool, ensuring compliance​</a:t>
            </a:r>
          </a:p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with IEC 61508 and IEC 61511​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standards.​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340007" y="6541259"/>
            <a:ext cx="3962155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End-to-end safety lifecycle support​</a:t>
            </a:r>
          </a:p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from concept through decommissioning,​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aligned with IEC 61511 requirements.​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736069" y="3428112"/>
            <a:ext cx="3999545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Structured hazard identification and​</a:t>
            </a:r>
          </a:p>
          <a:p>
            <a:pPr marL="0" lvl="0" indent="0"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Layer of Protection Analysis to quantify​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risk and define safety requirements.​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736069" y="6541266"/>
            <a:ext cx="3805790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Independent Functional Safety​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Assessments and certified training​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delivered by TUV and exida qualified​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engineers.​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132132" y="2804549"/>
            <a:ext cx="2631475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6ACB2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SIL ALLOCATION​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132132" y="5917696"/>
            <a:ext cx="2427582" cy="280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  <a:spcBef>
                <a:spcPct val="0"/>
              </a:spcBef>
            </a:pPr>
            <a:r>
              <a:rPr lang="en-US" sz="1699" b="1">
                <a:solidFill>
                  <a:srgbClr val="0F794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DNV PARTNERSHIP​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132132" y="3428112"/>
            <a:ext cx="3849846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Systematic allocation of Safety​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Integrity Levels to Safety Instrumented​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Functions based on risk assessment​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outcomes.​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3132132" y="6541259"/>
            <a:ext cx="3849846" cy="790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Strategic alliance with DNV enables​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 product certification and advanced​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functional safety consultancy services.​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417937" y="9372600"/>
            <a:ext cx="658681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Certified experts including CFSE (expert), exida IEC 61511 &amp; TUV engineers​</a:t>
            </a:r>
          </a:p>
        </p:txBody>
      </p:sp>
      <p:sp>
        <p:nvSpPr>
          <p:cNvPr id="65" name="Freeform 65"/>
          <p:cNvSpPr/>
          <p:nvPr/>
        </p:nvSpPr>
        <p:spPr>
          <a:xfrm>
            <a:off x="1028700" y="465236"/>
            <a:ext cx="1110426" cy="563464"/>
          </a:xfrm>
          <a:custGeom>
            <a:avLst/>
            <a:gdLst/>
            <a:ahLst/>
            <a:cxnLst/>
            <a:rect l="l" t="t" r="r" b="b"/>
            <a:pathLst>
              <a:path w="1110426" h="563464">
                <a:moveTo>
                  <a:pt x="0" y="0"/>
                </a:moveTo>
                <a:lnTo>
                  <a:pt x="1110426" y="0"/>
                </a:lnTo>
                <a:lnTo>
                  <a:pt x="1110426" y="563464"/>
                </a:lnTo>
                <a:lnTo>
                  <a:pt x="0" y="56346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r="-20675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6" name="TextBox 66"/>
          <p:cNvSpPr txBox="1"/>
          <p:nvPr/>
        </p:nvSpPr>
        <p:spPr>
          <a:xfrm>
            <a:off x="2261926" y="488551"/>
            <a:ext cx="1793384" cy="48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14"/>
              </a:lnSpc>
              <a:spcBef>
                <a:spcPct val="0"/>
              </a:spcBef>
            </a:pPr>
            <a:r>
              <a:rPr lang="en-US" sz="2909" spc="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Apeiron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2500" y="1263363"/>
            <a:ext cx="16306800" cy="863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Functional Safety Consulting Engagements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57999" y="2720290"/>
            <a:ext cx="4664403" cy="2489950"/>
            <a:chOff x="0" y="0"/>
            <a:chExt cx="951960" cy="5081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22803" y="6243462"/>
            <a:ext cx="4664403" cy="2489950"/>
            <a:chOff x="0" y="0"/>
            <a:chExt cx="951960" cy="508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32701" y="2720290"/>
            <a:ext cx="4664403" cy="2489950"/>
            <a:chOff x="0" y="0"/>
            <a:chExt cx="951960" cy="5081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132701" y="6243462"/>
            <a:ext cx="4664403" cy="2489950"/>
            <a:chOff x="0" y="0"/>
            <a:chExt cx="951960" cy="5081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5400000" flipV="1">
            <a:off x="318507" y="3352112"/>
            <a:ext cx="2265691" cy="1226305"/>
          </a:xfrm>
          <a:custGeom>
            <a:avLst/>
            <a:gdLst/>
            <a:ahLst/>
            <a:cxnLst/>
            <a:rect l="l" t="t" r="r" b="b"/>
            <a:pathLst>
              <a:path w="2265691" h="1226305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 rot="5400000" flipV="1">
            <a:off x="318507" y="6875284"/>
            <a:ext cx="2265691" cy="1226305"/>
          </a:xfrm>
          <a:custGeom>
            <a:avLst/>
            <a:gdLst/>
            <a:ahLst/>
            <a:cxnLst/>
            <a:rect l="l" t="t" r="r" b="b"/>
            <a:pathLst>
              <a:path w="2265691" h="1226305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 rot="5400000" flipV="1">
            <a:off x="5893209" y="3352112"/>
            <a:ext cx="2265691" cy="1226305"/>
          </a:xfrm>
          <a:custGeom>
            <a:avLst/>
            <a:gdLst/>
            <a:ahLst/>
            <a:cxnLst/>
            <a:rect l="l" t="t" r="r" b="b"/>
            <a:pathLst>
              <a:path w="2265691" h="1226305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rot="5400000" flipV="1">
            <a:off x="5958013" y="6875284"/>
            <a:ext cx="2265691" cy="1226305"/>
          </a:xfrm>
          <a:custGeom>
            <a:avLst/>
            <a:gdLst/>
            <a:ahLst/>
            <a:cxnLst/>
            <a:rect l="l" t="t" r="r" b="b"/>
            <a:pathLst>
              <a:path w="2265691" h="1226305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12707402" y="2720290"/>
            <a:ext cx="4664403" cy="2489950"/>
            <a:chOff x="0" y="0"/>
            <a:chExt cx="951960" cy="5081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707402" y="6243462"/>
            <a:ext cx="4664403" cy="2489950"/>
            <a:chOff x="0" y="0"/>
            <a:chExt cx="951960" cy="5081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26557" y="0"/>
                  </a:moveTo>
                  <a:lnTo>
                    <a:pt x="925403" y="0"/>
                  </a:lnTo>
                  <a:cubicBezTo>
                    <a:pt x="932446" y="0"/>
                    <a:pt x="939201" y="2798"/>
                    <a:pt x="944182" y="7778"/>
                  </a:cubicBezTo>
                  <a:cubicBezTo>
                    <a:pt x="949162" y="12759"/>
                    <a:pt x="951960" y="19513"/>
                    <a:pt x="951960" y="26557"/>
                  </a:cubicBezTo>
                  <a:lnTo>
                    <a:pt x="951960" y="481618"/>
                  </a:lnTo>
                  <a:cubicBezTo>
                    <a:pt x="951960" y="496285"/>
                    <a:pt x="940070" y="508175"/>
                    <a:pt x="925403" y="508175"/>
                  </a:cubicBezTo>
                  <a:lnTo>
                    <a:pt x="26557" y="508175"/>
                  </a:lnTo>
                  <a:cubicBezTo>
                    <a:pt x="11890" y="508175"/>
                    <a:pt x="0" y="496285"/>
                    <a:pt x="0" y="481618"/>
                  </a:cubicBezTo>
                  <a:lnTo>
                    <a:pt x="0" y="26557"/>
                  </a:lnTo>
                  <a:cubicBezTo>
                    <a:pt x="0" y="11890"/>
                    <a:pt x="11890" y="0"/>
                    <a:pt x="26557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5400000" flipV="1">
            <a:off x="11563161" y="3352112"/>
            <a:ext cx="2265691" cy="1226305"/>
          </a:xfrm>
          <a:custGeom>
            <a:avLst/>
            <a:gdLst/>
            <a:ahLst/>
            <a:cxnLst/>
            <a:rect l="l" t="t" r="r" b="b"/>
            <a:pathLst>
              <a:path w="2265691" h="1226305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 rot="5400000" flipV="1">
            <a:off x="11563161" y="6875284"/>
            <a:ext cx="2265691" cy="1226305"/>
          </a:xfrm>
          <a:custGeom>
            <a:avLst/>
            <a:gdLst/>
            <a:ahLst/>
            <a:cxnLst/>
            <a:rect l="l" t="t" r="r" b="b"/>
            <a:pathLst>
              <a:path w="2265691" h="1226305">
                <a:moveTo>
                  <a:pt x="0" y="1226305"/>
                </a:moveTo>
                <a:lnTo>
                  <a:pt x="2265691" y="1226305"/>
                </a:lnTo>
                <a:lnTo>
                  <a:pt x="2265691" y="0"/>
                </a:lnTo>
                <a:lnTo>
                  <a:pt x="0" y="0"/>
                </a:lnTo>
                <a:lnTo>
                  <a:pt x="0" y="1226305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997724" y="3634517"/>
            <a:ext cx="719799" cy="60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42"/>
              </a:lnSpc>
              <a:spcBef>
                <a:spcPct val="0"/>
              </a:spcBef>
            </a:pPr>
            <a:r>
              <a:rPr lang="en-US" sz="3725" b="1">
                <a:solidFill>
                  <a:srgbClr val="FCFD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8700" y="7181468"/>
            <a:ext cx="688823" cy="56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634"/>
              </a:lnSpc>
              <a:spcBef>
                <a:spcPct val="0"/>
              </a:spcBef>
            </a:pPr>
            <a:r>
              <a:rPr lang="en-US" sz="356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64101" y="3653567"/>
            <a:ext cx="672174" cy="555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522"/>
              </a:lnSpc>
              <a:spcBef>
                <a:spcPct val="0"/>
              </a:spcBef>
            </a:pPr>
            <a:r>
              <a:rPr lang="en-US" sz="3478" b="1">
                <a:solidFill>
                  <a:srgbClr val="FCFD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96225" y="7216475"/>
            <a:ext cx="659659" cy="556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38"/>
              </a:lnSpc>
              <a:spcBef>
                <a:spcPct val="0"/>
              </a:spcBef>
            </a:pPr>
            <a:r>
              <a:rPr lang="en-US" sz="341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235253" y="3638151"/>
            <a:ext cx="717754" cy="610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29"/>
              </a:lnSpc>
              <a:spcBef>
                <a:spcPct val="0"/>
              </a:spcBef>
            </a:pPr>
            <a:r>
              <a:rPr lang="en-US" sz="371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287414" y="7199741"/>
            <a:ext cx="665594" cy="546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478"/>
              </a:lnSpc>
              <a:spcBef>
                <a:spcPct val="0"/>
              </a:spcBef>
            </a:pPr>
            <a:r>
              <a:rPr lang="en-US" sz="344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250923" y="3051682"/>
            <a:ext cx="2843597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Chevron &amp; JPTT PLC Projects (2022–2023)​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258203" y="3823030"/>
            <a:ext cx="2836316" cy="127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Software migration, FAT, preventive maintenance, and​ site inspection for Chevron SRU Incinerator and JPTT​ ControlLogix systems.​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250923" y="6365116"/>
            <a:ext cx="263052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Jhal Magsi Gas Field ICSS (2012)​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250923" y="7200518"/>
            <a:ext cx="2874233" cy="127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Lead Engineer for ESD and PCS using AAdvance system,​</a:t>
            </a:r>
          </a:p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covering full ICSS scope for the Jhal Magsi Gas Field​</a:t>
            </a:r>
          </a:p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project.​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2107" y="3051682"/>
            <a:ext cx="3212014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Trusted System Migrations &amp; Upgrades (2009–2020)​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82107" y="3823030"/>
            <a:ext cx="3242671" cy="127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Lead Engineer for SRC RCC ESD PLC upgrades and​</a:t>
            </a:r>
          </a:p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Indonesia Balikpapan Regent Safety System processor​</a:t>
            </a:r>
          </a:p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migration across multiple phases.​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20874" y="6365116"/>
            <a:ext cx="28308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SIS &amp; ESD Engineering Lead (2021–2022)​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34192" y="7200518"/>
            <a:ext cx="2998372" cy="127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Led design and documentation for FPSO SIS P78 and​</a:t>
            </a:r>
          </a:p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Seawater Treatment Package Sangonar using​</a:t>
            </a:r>
          </a:p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ControlLogix systems.​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594909" y="3051682"/>
            <a:ext cx="2875362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BMS/BCS Logic &amp; HMI Support (2019–2023)​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594909" y="3823030"/>
            <a:ext cx="3138205" cy="127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Logic modification and HMI support for Suralaya and​</a:t>
            </a:r>
          </a:p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Melaka 2,242MW CCPP BMS using AAdvance system​</a:t>
            </a:r>
          </a:p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 FTView.​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594909" y="6365116"/>
            <a:ext cx="313820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Trusted System Maintenance (2022)​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594909" y="7200518"/>
            <a:ext cx="3138205" cy="127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Preventive maintenance, hardware changes, and​</a:t>
            </a:r>
          </a:p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maintenance support for Vietnam PVEP, Singapore Tuas​</a:t>
            </a:r>
          </a:p>
          <a:p>
            <a:pPr algn="l">
              <a:lnSpc>
                <a:spcPts val="2079"/>
              </a:lnSpc>
            </a:pPr>
            <a:r>
              <a:rPr lang="en-US" sz="1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Power, and Sembcorp sites.​</a:t>
            </a:r>
          </a:p>
        </p:txBody>
      </p:sp>
      <p:sp>
        <p:nvSpPr>
          <p:cNvPr id="45" name="Freeform 45"/>
          <p:cNvSpPr/>
          <p:nvPr/>
        </p:nvSpPr>
        <p:spPr>
          <a:xfrm>
            <a:off x="1028700" y="465236"/>
            <a:ext cx="1110426" cy="563464"/>
          </a:xfrm>
          <a:custGeom>
            <a:avLst/>
            <a:gdLst/>
            <a:ahLst/>
            <a:cxnLst/>
            <a:rect l="l" t="t" r="r" b="b"/>
            <a:pathLst>
              <a:path w="1110426" h="563464">
                <a:moveTo>
                  <a:pt x="0" y="0"/>
                </a:moveTo>
                <a:lnTo>
                  <a:pt x="1110426" y="0"/>
                </a:lnTo>
                <a:lnTo>
                  <a:pt x="1110426" y="563464"/>
                </a:lnTo>
                <a:lnTo>
                  <a:pt x="0" y="56346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r="-20675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6" name="TextBox 46"/>
          <p:cNvSpPr txBox="1"/>
          <p:nvPr/>
        </p:nvSpPr>
        <p:spPr>
          <a:xfrm>
            <a:off x="2261926" y="488551"/>
            <a:ext cx="1793384" cy="48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14"/>
              </a:lnSpc>
              <a:spcBef>
                <a:spcPct val="0"/>
              </a:spcBef>
            </a:pPr>
            <a:r>
              <a:rPr lang="en-US" sz="2909" spc="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Apeiron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1075639"/>
            <a:ext cx="16306800" cy="82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0"/>
              </a:lnSpc>
              <a:spcBef>
                <a:spcPct val="0"/>
              </a:spcBef>
            </a:pPr>
            <a:r>
              <a:rPr lang="en-US" sz="49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Functional Safety Consulting Engagements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2306485" y="2300409"/>
            <a:ext cx="3872282" cy="2067100"/>
            <a:chOff x="0" y="0"/>
            <a:chExt cx="951960" cy="5081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31989" y="0"/>
                  </a:moveTo>
                  <a:lnTo>
                    <a:pt x="919971" y="0"/>
                  </a:lnTo>
                  <a:cubicBezTo>
                    <a:pt x="928455" y="0"/>
                    <a:pt x="936591" y="3370"/>
                    <a:pt x="942590" y="9369"/>
                  </a:cubicBezTo>
                  <a:cubicBezTo>
                    <a:pt x="948590" y="15368"/>
                    <a:pt x="951960" y="23505"/>
                    <a:pt x="951960" y="31989"/>
                  </a:cubicBezTo>
                  <a:lnTo>
                    <a:pt x="951960" y="476186"/>
                  </a:lnTo>
                  <a:cubicBezTo>
                    <a:pt x="951960" y="493853"/>
                    <a:pt x="937638" y="508175"/>
                    <a:pt x="919971" y="508175"/>
                  </a:cubicBezTo>
                  <a:lnTo>
                    <a:pt x="31989" y="508175"/>
                  </a:lnTo>
                  <a:cubicBezTo>
                    <a:pt x="14322" y="508175"/>
                    <a:pt x="0" y="493853"/>
                    <a:pt x="0" y="476186"/>
                  </a:cubicBezTo>
                  <a:lnTo>
                    <a:pt x="0" y="31989"/>
                  </a:lnTo>
                  <a:cubicBezTo>
                    <a:pt x="0" y="14322"/>
                    <a:pt x="14322" y="0"/>
                    <a:pt x="31989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60283" y="5225267"/>
            <a:ext cx="3872282" cy="2067100"/>
            <a:chOff x="0" y="0"/>
            <a:chExt cx="951960" cy="50817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31989" y="0"/>
                  </a:moveTo>
                  <a:lnTo>
                    <a:pt x="919971" y="0"/>
                  </a:lnTo>
                  <a:cubicBezTo>
                    <a:pt x="928455" y="0"/>
                    <a:pt x="936591" y="3370"/>
                    <a:pt x="942590" y="9369"/>
                  </a:cubicBezTo>
                  <a:cubicBezTo>
                    <a:pt x="948590" y="15368"/>
                    <a:pt x="951960" y="23505"/>
                    <a:pt x="951960" y="31989"/>
                  </a:cubicBezTo>
                  <a:lnTo>
                    <a:pt x="951960" y="476186"/>
                  </a:lnTo>
                  <a:cubicBezTo>
                    <a:pt x="951960" y="493853"/>
                    <a:pt x="937638" y="508175"/>
                    <a:pt x="919971" y="508175"/>
                  </a:cubicBezTo>
                  <a:lnTo>
                    <a:pt x="31989" y="508175"/>
                  </a:lnTo>
                  <a:cubicBezTo>
                    <a:pt x="14322" y="508175"/>
                    <a:pt x="0" y="493853"/>
                    <a:pt x="0" y="476186"/>
                  </a:cubicBezTo>
                  <a:lnTo>
                    <a:pt x="0" y="31989"/>
                  </a:lnTo>
                  <a:cubicBezTo>
                    <a:pt x="0" y="14322"/>
                    <a:pt x="14322" y="0"/>
                    <a:pt x="31989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06401" y="2300409"/>
            <a:ext cx="3872282" cy="2067100"/>
            <a:chOff x="0" y="0"/>
            <a:chExt cx="951960" cy="5081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31989" y="0"/>
                  </a:moveTo>
                  <a:lnTo>
                    <a:pt x="919971" y="0"/>
                  </a:lnTo>
                  <a:cubicBezTo>
                    <a:pt x="928455" y="0"/>
                    <a:pt x="936591" y="3370"/>
                    <a:pt x="942590" y="9369"/>
                  </a:cubicBezTo>
                  <a:cubicBezTo>
                    <a:pt x="948590" y="15368"/>
                    <a:pt x="951960" y="23505"/>
                    <a:pt x="951960" y="31989"/>
                  </a:cubicBezTo>
                  <a:lnTo>
                    <a:pt x="951960" y="476186"/>
                  </a:lnTo>
                  <a:cubicBezTo>
                    <a:pt x="951960" y="493853"/>
                    <a:pt x="937638" y="508175"/>
                    <a:pt x="919971" y="508175"/>
                  </a:cubicBezTo>
                  <a:lnTo>
                    <a:pt x="31989" y="508175"/>
                  </a:lnTo>
                  <a:cubicBezTo>
                    <a:pt x="14322" y="508175"/>
                    <a:pt x="0" y="493853"/>
                    <a:pt x="0" y="476186"/>
                  </a:cubicBezTo>
                  <a:lnTo>
                    <a:pt x="0" y="31989"/>
                  </a:lnTo>
                  <a:cubicBezTo>
                    <a:pt x="0" y="14322"/>
                    <a:pt x="14322" y="0"/>
                    <a:pt x="31989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06401" y="5225267"/>
            <a:ext cx="3872282" cy="2067100"/>
            <a:chOff x="0" y="0"/>
            <a:chExt cx="951960" cy="50817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31989" y="0"/>
                  </a:moveTo>
                  <a:lnTo>
                    <a:pt x="919971" y="0"/>
                  </a:lnTo>
                  <a:cubicBezTo>
                    <a:pt x="928455" y="0"/>
                    <a:pt x="936591" y="3370"/>
                    <a:pt x="942590" y="9369"/>
                  </a:cubicBezTo>
                  <a:cubicBezTo>
                    <a:pt x="948590" y="15368"/>
                    <a:pt x="951960" y="23505"/>
                    <a:pt x="951960" y="31989"/>
                  </a:cubicBezTo>
                  <a:lnTo>
                    <a:pt x="951960" y="476186"/>
                  </a:lnTo>
                  <a:cubicBezTo>
                    <a:pt x="951960" y="493853"/>
                    <a:pt x="937638" y="508175"/>
                    <a:pt x="919971" y="508175"/>
                  </a:cubicBezTo>
                  <a:lnTo>
                    <a:pt x="31989" y="508175"/>
                  </a:lnTo>
                  <a:cubicBezTo>
                    <a:pt x="14322" y="508175"/>
                    <a:pt x="0" y="493853"/>
                    <a:pt x="0" y="476186"/>
                  </a:cubicBezTo>
                  <a:lnTo>
                    <a:pt x="0" y="31989"/>
                  </a:lnTo>
                  <a:cubicBezTo>
                    <a:pt x="0" y="14322"/>
                    <a:pt x="14322" y="0"/>
                    <a:pt x="31989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5400000" flipV="1">
            <a:off x="1277487" y="2824934"/>
            <a:ext cx="1880925" cy="1018051"/>
          </a:xfrm>
          <a:custGeom>
            <a:avLst/>
            <a:gdLst/>
            <a:ahLst/>
            <a:cxnLst/>
            <a:rect l="l" t="t" r="r" b="b"/>
            <a:pathLst>
              <a:path w="1880925" h="1018051">
                <a:moveTo>
                  <a:pt x="0" y="1018051"/>
                </a:moveTo>
                <a:lnTo>
                  <a:pt x="1880925" y="1018051"/>
                </a:lnTo>
                <a:lnTo>
                  <a:pt x="1880925" y="0"/>
                </a:lnTo>
                <a:lnTo>
                  <a:pt x="0" y="0"/>
                </a:lnTo>
                <a:lnTo>
                  <a:pt x="0" y="10180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 rot="5400000" flipV="1">
            <a:off x="1277487" y="5749792"/>
            <a:ext cx="1880925" cy="1018051"/>
          </a:xfrm>
          <a:custGeom>
            <a:avLst/>
            <a:gdLst/>
            <a:ahLst/>
            <a:cxnLst/>
            <a:rect l="l" t="t" r="r" b="b"/>
            <a:pathLst>
              <a:path w="1880925" h="1018051">
                <a:moveTo>
                  <a:pt x="0" y="1018051"/>
                </a:moveTo>
                <a:lnTo>
                  <a:pt x="1880925" y="1018051"/>
                </a:lnTo>
                <a:lnTo>
                  <a:pt x="1880925" y="0"/>
                </a:lnTo>
                <a:lnTo>
                  <a:pt x="0" y="0"/>
                </a:lnTo>
                <a:lnTo>
                  <a:pt x="0" y="101805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 rot="5400000" flipV="1">
            <a:off x="6477403" y="2824934"/>
            <a:ext cx="1880925" cy="1018051"/>
          </a:xfrm>
          <a:custGeom>
            <a:avLst/>
            <a:gdLst/>
            <a:ahLst/>
            <a:cxnLst/>
            <a:rect l="l" t="t" r="r" b="b"/>
            <a:pathLst>
              <a:path w="1880925" h="1018051">
                <a:moveTo>
                  <a:pt x="0" y="1018051"/>
                </a:moveTo>
                <a:lnTo>
                  <a:pt x="1880925" y="1018051"/>
                </a:lnTo>
                <a:lnTo>
                  <a:pt x="1880925" y="0"/>
                </a:lnTo>
                <a:lnTo>
                  <a:pt x="0" y="0"/>
                </a:lnTo>
                <a:lnTo>
                  <a:pt x="0" y="1018051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 rot="5400000" flipV="1">
            <a:off x="6531201" y="5749792"/>
            <a:ext cx="1880925" cy="1018051"/>
          </a:xfrm>
          <a:custGeom>
            <a:avLst/>
            <a:gdLst/>
            <a:ahLst/>
            <a:cxnLst/>
            <a:rect l="l" t="t" r="r" b="b"/>
            <a:pathLst>
              <a:path w="1880925" h="1018051">
                <a:moveTo>
                  <a:pt x="0" y="1018051"/>
                </a:moveTo>
                <a:lnTo>
                  <a:pt x="1880926" y="1018051"/>
                </a:lnTo>
                <a:lnTo>
                  <a:pt x="1880926" y="0"/>
                </a:lnTo>
                <a:lnTo>
                  <a:pt x="0" y="0"/>
                </a:lnTo>
                <a:lnTo>
                  <a:pt x="0" y="101805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9" name="Group 19"/>
          <p:cNvGrpSpPr/>
          <p:nvPr/>
        </p:nvGrpSpPr>
        <p:grpSpPr>
          <a:xfrm>
            <a:off x="12706794" y="2300409"/>
            <a:ext cx="3872282" cy="2067100"/>
            <a:chOff x="0" y="0"/>
            <a:chExt cx="951960" cy="50817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31989" y="0"/>
                  </a:moveTo>
                  <a:lnTo>
                    <a:pt x="919971" y="0"/>
                  </a:lnTo>
                  <a:cubicBezTo>
                    <a:pt x="928455" y="0"/>
                    <a:pt x="936591" y="3370"/>
                    <a:pt x="942590" y="9369"/>
                  </a:cubicBezTo>
                  <a:cubicBezTo>
                    <a:pt x="948590" y="15368"/>
                    <a:pt x="951960" y="23505"/>
                    <a:pt x="951960" y="31989"/>
                  </a:cubicBezTo>
                  <a:lnTo>
                    <a:pt x="951960" y="476186"/>
                  </a:lnTo>
                  <a:cubicBezTo>
                    <a:pt x="951960" y="493853"/>
                    <a:pt x="937638" y="508175"/>
                    <a:pt x="919971" y="508175"/>
                  </a:cubicBezTo>
                  <a:lnTo>
                    <a:pt x="31989" y="508175"/>
                  </a:lnTo>
                  <a:cubicBezTo>
                    <a:pt x="14322" y="508175"/>
                    <a:pt x="0" y="493853"/>
                    <a:pt x="0" y="476186"/>
                  </a:cubicBezTo>
                  <a:lnTo>
                    <a:pt x="0" y="31989"/>
                  </a:lnTo>
                  <a:cubicBezTo>
                    <a:pt x="0" y="14322"/>
                    <a:pt x="14322" y="0"/>
                    <a:pt x="31989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706794" y="5225267"/>
            <a:ext cx="3872282" cy="2067100"/>
            <a:chOff x="0" y="0"/>
            <a:chExt cx="951960" cy="5081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31989" y="0"/>
                  </a:moveTo>
                  <a:lnTo>
                    <a:pt x="919971" y="0"/>
                  </a:lnTo>
                  <a:cubicBezTo>
                    <a:pt x="928455" y="0"/>
                    <a:pt x="936591" y="3370"/>
                    <a:pt x="942590" y="9369"/>
                  </a:cubicBezTo>
                  <a:cubicBezTo>
                    <a:pt x="948590" y="15368"/>
                    <a:pt x="951960" y="23505"/>
                    <a:pt x="951960" y="31989"/>
                  </a:cubicBezTo>
                  <a:lnTo>
                    <a:pt x="951960" y="476186"/>
                  </a:lnTo>
                  <a:cubicBezTo>
                    <a:pt x="951960" y="493853"/>
                    <a:pt x="937638" y="508175"/>
                    <a:pt x="919971" y="508175"/>
                  </a:cubicBezTo>
                  <a:lnTo>
                    <a:pt x="31989" y="508175"/>
                  </a:lnTo>
                  <a:cubicBezTo>
                    <a:pt x="14322" y="508175"/>
                    <a:pt x="0" y="493853"/>
                    <a:pt x="0" y="476186"/>
                  </a:cubicBezTo>
                  <a:lnTo>
                    <a:pt x="0" y="31989"/>
                  </a:lnTo>
                  <a:cubicBezTo>
                    <a:pt x="0" y="14322"/>
                    <a:pt x="14322" y="0"/>
                    <a:pt x="31989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5400000" flipV="1">
            <a:off x="11756871" y="2824934"/>
            <a:ext cx="1880925" cy="1018051"/>
          </a:xfrm>
          <a:custGeom>
            <a:avLst/>
            <a:gdLst/>
            <a:ahLst/>
            <a:cxnLst/>
            <a:rect l="l" t="t" r="r" b="b"/>
            <a:pathLst>
              <a:path w="1880925" h="1018051">
                <a:moveTo>
                  <a:pt x="0" y="1018051"/>
                </a:moveTo>
                <a:lnTo>
                  <a:pt x="1880925" y="1018051"/>
                </a:lnTo>
                <a:lnTo>
                  <a:pt x="1880925" y="0"/>
                </a:lnTo>
                <a:lnTo>
                  <a:pt x="0" y="0"/>
                </a:lnTo>
                <a:lnTo>
                  <a:pt x="0" y="1018051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6" name="Freeform 26"/>
          <p:cNvSpPr/>
          <p:nvPr/>
        </p:nvSpPr>
        <p:spPr>
          <a:xfrm rot="5400000" flipV="1">
            <a:off x="11756871" y="5749792"/>
            <a:ext cx="1880925" cy="1018051"/>
          </a:xfrm>
          <a:custGeom>
            <a:avLst/>
            <a:gdLst/>
            <a:ahLst/>
            <a:cxnLst/>
            <a:rect l="l" t="t" r="r" b="b"/>
            <a:pathLst>
              <a:path w="1880925" h="1018051">
                <a:moveTo>
                  <a:pt x="0" y="1018051"/>
                </a:moveTo>
                <a:lnTo>
                  <a:pt x="1880925" y="1018051"/>
                </a:lnTo>
                <a:lnTo>
                  <a:pt x="1880925" y="0"/>
                </a:lnTo>
                <a:lnTo>
                  <a:pt x="0" y="0"/>
                </a:lnTo>
                <a:lnTo>
                  <a:pt x="0" y="1018051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7" name="TextBox 27"/>
          <p:cNvSpPr txBox="1"/>
          <p:nvPr/>
        </p:nvSpPr>
        <p:spPr>
          <a:xfrm>
            <a:off x="1841357" y="3079867"/>
            <a:ext cx="597561" cy="4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20"/>
              </a:lnSpc>
              <a:spcBef>
                <a:spcPct val="0"/>
              </a:spcBef>
            </a:pPr>
            <a:r>
              <a:rPr lang="en-US" sz="3092" b="1">
                <a:solidFill>
                  <a:srgbClr val="FCFD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07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67073" y="5999126"/>
            <a:ext cx="571845" cy="473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847"/>
              </a:lnSpc>
              <a:spcBef>
                <a:spcPct val="0"/>
              </a:spcBef>
            </a:pPr>
            <a:r>
              <a:rPr lang="en-US" sz="2959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034362" y="3070342"/>
            <a:ext cx="558024" cy="466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54"/>
              </a:lnSpc>
              <a:spcBef>
                <a:spcPct val="0"/>
              </a:spcBef>
            </a:pPr>
            <a:r>
              <a:rPr lang="en-US" sz="2887" b="1">
                <a:solidFill>
                  <a:srgbClr val="FCFDFE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08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144049" y="6045621"/>
            <a:ext cx="547634" cy="44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84"/>
              </a:lnSpc>
              <a:spcBef>
                <a:spcPct val="0"/>
              </a:spcBef>
            </a:pPr>
            <a:r>
              <a:rPr lang="en-US" sz="283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11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14827" y="3073359"/>
            <a:ext cx="595863" cy="495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008"/>
              </a:lnSpc>
              <a:spcBef>
                <a:spcPct val="0"/>
              </a:spcBef>
            </a:pPr>
            <a:r>
              <a:rPr lang="en-US" sz="3083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09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58129" y="6014296"/>
            <a:ext cx="552561" cy="458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17"/>
              </a:lnSpc>
              <a:spcBef>
                <a:spcPct val="0"/>
              </a:spcBef>
            </a:pPr>
            <a:r>
              <a:rPr lang="en-US" sz="285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81734" y="2567616"/>
            <a:ext cx="3297032" cy="44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Bangladesh Sangu &amp; Alpha Platform Upgrade (2010–2011)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87779" y="3204737"/>
            <a:ext cx="2735186" cy="106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3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Upgrade of Regent system to Trusted power, logic modification, and site hardware service for Bangladesh Sangu Onshore and Alpha Platform.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81734" y="5318355"/>
            <a:ext cx="2472098" cy="44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PT </a:t>
            </a:r>
            <a:r>
              <a:rPr lang="en-US" sz="1494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Badak</a:t>
            </a:r>
            <a:r>
              <a:rPr lang="en-US" sz="149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NGL Train H HMI Upgrade (2009)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881734" y="6008651"/>
            <a:ext cx="2556904" cy="8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32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Modification and commissioning works including Human Machine Interface upgrade for PT </a:t>
            </a:r>
            <a:r>
              <a:rPr lang="en-US" sz="132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Badak</a:t>
            </a:r>
            <a:r>
              <a:rPr lang="en-US" sz="132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NGL Train H.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211559" y="2567616"/>
            <a:ext cx="2771512" cy="44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SRC ESD System CPU Upgrade (2011)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211559" y="3204737"/>
            <a:ext cx="2961916" cy="106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3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Engineering and commissioning for SRC ESD system CPU processor upgrade, including developing logic solver and panel integration for ESD application and providing site service.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160725" y="5318355"/>
            <a:ext cx="3789458" cy="44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Capital Tower GIC FCU HMI Development (2000–2001)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71781" y="6008651"/>
            <a:ext cx="2489181" cy="64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3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HMI development for FCU system at Capital Tower GIC using Siemens WinCC platform.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443582" y="2567616"/>
            <a:ext cx="2956898" cy="44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Indonesia Jabung Gas Booster SDS Commissioning (2009)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443582" y="3204737"/>
            <a:ext cx="2605267" cy="106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3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Commissioning of SDS system including logic solver editing and panel wiring troubleshooting for Indonesia Jabung Gas Booster Station.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443582" y="5318355"/>
            <a:ext cx="3235088" cy="44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Changi Naval Base FCC HMI Development (2001)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443582" y="6008651"/>
            <a:ext cx="2605267" cy="856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3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HMI development for FCC system at Changi Naval Base Frequency Converting Station using Intellution Fix32.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4879544" y="7678643"/>
            <a:ext cx="3872282" cy="2067100"/>
            <a:chOff x="0" y="0"/>
            <a:chExt cx="951960" cy="50817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31989" y="0"/>
                  </a:moveTo>
                  <a:lnTo>
                    <a:pt x="919971" y="0"/>
                  </a:lnTo>
                  <a:cubicBezTo>
                    <a:pt x="928455" y="0"/>
                    <a:pt x="936591" y="3370"/>
                    <a:pt x="942590" y="9369"/>
                  </a:cubicBezTo>
                  <a:cubicBezTo>
                    <a:pt x="948590" y="15368"/>
                    <a:pt x="951960" y="23505"/>
                    <a:pt x="951960" y="31989"/>
                  </a:cubicBezTo>
                  <a:lnTo>
                    <a:pt x="951960" y="476186"/>
                  </a:lnTo>
                  <a:cubicBezTo>
                    <a:pt x="951960" y="493853"/>
                    <a:pt x="937638" y="508175"/>
                    <a:pt x="919971" y="508175"/>
                  </a:cubicBezTo>
                  <a:lnTo>
                    <a:pt x="31989" y="508175"/>
                  </a:lnTo>
                  <a:cubicBezTo>
                    <a:pt x="14322" y="508175"/>
                    <a:pt x="0" y="493853"/>
                    <a:pt x="0" y="476186"/>
                  </a:cubicBezTo>
                  <a:lnTo>
                    <a:pt x="0" y="31989"/>
                  </a:lnTo>
                  <a:cubicBezTo>
                    <a:pt x="0" y="14322"/>
                    <a:pt x="14322" y="0"/>
                    <a:pt x="31989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sp>
        <p:nvSpPr>
          <p:cNvPr id="48" name="Freeform 48"/>
          <p:cNvSpPr/>
          <p:nvPr/>
        </p:nvSpPr>
        <p:spPr>
          <a:xfrm rot="5400000" flipV="1">
            <a:off x="3904344" y="8203167"/>
            <a:ext cx="1880925" cy="1018051"/>
          </a:xfrm>
          <a:custGeom>
            <a:avLst/>
            <a:gdLst/>
            <a:ahLst/>
            <a:cxnLst/>
            <a:rect l="l" t="t" r="r" b="b"/>
            <a:pathLst>
              <a:path w="1880925" h="1018051">
                <a:moveTo>
                  <a:pt x="0" y="1018051"/>
                </a:moveTo>
                <a:lnTo>
                  <a:pt x="1880925" y="1018051"/>
                </a:lnTo>
                <a:lnTo>
                  <a:pt x="1880925" y="0"/>
                </a:lnTo>
                <a:lnTo>
                  <a:pt x="0" y="0"/>
                </a:lnTo>
                <a:lnTo>
                  <a:pt x="0" y="1018051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9" name="Group 49"/>
          <p:cNvGrpSpPr/>
          <p:nvPr/>
        </p:nvGrpSpPr>
        <p:grpSpPr>
          <a:xfrm>
            <a:off x="10079937" y="7678643"/>
            <a:ext cx="3872282" cy="2067100"/>
            <a:chOff x="0" y="0"/>
            <a:chExt cx="951960" cy="50817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51960" cy="508175"/>
            </a:xfrm>
            <a:custGeom>
              <a:avLst/>
              <a:gdLst/>
              <a:ahLst/>
              <a:cxnLst/>
              <a:rect l="l" t="t" r="r" b="b"/>
              <a:pathLst>
                <a:path w="951960" h="508175">
                  <a:moveTo>
                    <a:pt x="31989" y="0"/>
                  </a:moveTo>
                  <a:lnTo>
                    <a:pt x="919971" y="0"/>
                  </a:lnTo>
                  <a:cubicBezTo>
                    <a:pt x="928455" y="0"/>
                    <a:pt x="936591" y="3370"/>
                    <a:pt x="942590" y="9369"/>
                  </a:cubicBezTo>
                  <a:cubicBezTo>
                    <a:pt x="948590" y="15368"/>
                    <a:pt x="951960" y="23505"/>
                    <a:pt x="951960" y="31989"/>
                  </a:cubicBezTo>
                  <a:lnTo>
                    <a:pt x="951960" y="476186"/>
                  </a:lnTo>
                  <a:cubicBezTo>
                    <a:pt x="951960" y="493853"/>
                    <a:pt x="937638" y="508175"/>
                    <a:pt x="919971" y="508175"/>
                  </a:cubicBezTo>
                  <a:lnTo>
                    <a:pt x="31989" y="508175"/>
                  </a:lnTo>
                  <a:cubicBezTo>
                    <a:pt x="14322" y="508175"/>
                    <a:pt x="0" y="493853"/>
                    <a:pt x="0" y="476186"/>
                  </a:cubicBezTo>
                  <a:lnTo>
                    <a:pt x="0" y="31989"/>
                  </a:lnTo>
                  <a:cubicBezTo>
                    <a:pt x="0" y="14322"/>
                    <a:pt x="14322" y="0"/>
                    <a:pt x="31989" y="0"/>
                  </a:cubicBezTo>
                  <a:close/>
                </a:path>
              </a:pathLst>
            </a:custGeom>
            <a:solidFill>
              <a:srgbClr val="FCFDF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951960" cy="51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39"/>
                </a:lnSpc>
              </a:pPr>
              <a:endParaRPr/>
            </a:p>
          </p:txBody>
        </p:sp>
      </p:grpSp>
      <p:sp>
        <p:nvSpPr>
          <p:cNvPr id="52" name="Freeform 52"/>
          <p:cNvSpPr/>
          <p:nvPr/>
        </p:nvSpPr>
        <p:spPr>
          <a:xfrm rot="5400000" flipV="1">
            <a:off x="9130013" y="8203167"/>
            <a:ext cx="1880925" cy="1018051"/>
          </a:xfrm>
          <a:custGeom>
            <a:avLst/>
            <a:gdLst/>
            <a:ahLst/>
            <a:cxnLst/>
            <a:rect l="l" t="t" r="r" b="b"/>
            <a:pathLst>
              <a:path w="1880925" h="1018051">
                <a:moveTo>
                  <a:pt x="0" y="1018051"/>
                </a:moveTo>
                <a:lnTo>
                  <a:pt x="1880926" y="1018051"/>
                </a:lnTo>
                <a:lnTo>
                  <a:pt x="1880926" y="0"/>
                </a:lnTo>
                <a:lnTo>
                  <a:pt x="0" y="0"/>
                </a:lnTo>
                <a:lnTo>
                  <a:pt x="0" y="1018051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3" name="TextBox 53"/>
          <p:cNvSpPr txBox="1"/>
          <p:nvPr/>
        </p:nvSpPr>
        <p:spPr>
          <a:xfrm>
            <a:off x="4517191" y="8498996"/>
            <a:ext cx="547634" cy="44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84"/>
              </a:lnSpc>
              <a:spcBef>
                <a:spcPct val="0"/>
              </a:spcBef>
            </a:pPr>
            <a:r>
              <a:rPr lang="en-US" sz="2834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13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731272" y="8467672"/>
            <a:ext cx="552561" cy="458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717"/>
              </a:lnSpc>
              <a:spcBef>
                <a:spcPct val="0"/>
              </a:spcBef>
            </a:pPr>
            <a:r>
              <a:rPr lang="en-US" sz="285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14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533868" y="7771730"/>
            <a:ext cx="3070286" cy="44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Vietnam &amp; Singapore ESD/FGS Enhancements (2004–2010)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544923" y="8462026"/>
            <a:ext cx="2774099" cy="106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3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ESD/FGS HMI and logic solver modification using Siemens TD17, Intellution iFix, Trusted, and Rockwell FactoryTalk; including SCADA and report development.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0816725" y="7771730"/>
            <a:ext cx="3135494" cy="44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93"/>
              </a:lnSpc>
            </a:pPr>
            <a:r>
              <a:rPr lang="en-US" sz="1494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Kuwait Oil Company FGS Upgrade (2007–2009)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816725" y="8462026"/>
            <a:ext cx="2605267" cy="106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26"/>
              </a:lnSpc>
            </a:pPr>
            <a:r>
              <a:rPr lang="en-US" sz="13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Engineering, commissioning, and upgrading jobs including developing logic solver, Human Machine Interface, and panel integration for FGS application.</a:t>
            </a:r>
          </a:p>
        </p:txBody>
      </p:sp>
      <p:sp>
        <p:nvSpPr>
          <p:cNvPr id="59" name="Freeform 59"/>
          <p:cNvSpPr/>
          <p:nvPr/>
        </p:nvSpPr>
        <p:spPr>
          <a:xfrm>
            <a:off x="1028700" y="465236"/>
            <a:ext cx="1110426" cy="563464"/>
          </a:xfrm>
          <a:custGeom>
            <a:avLst/>
            <a:gdLst/>
            <a:ahLst/>
            <a:cxnLst/>
            <a:rect l="l" t="t" r="r" b="b"/>
            <a:pathLst>
              <a:path w="1110426" h="563464">
                <a:moveTo>
                  <a:pt x="0" y="0"/>
                </a:moveTo>
                <a:lnTo>
                  <a:pt x="1110426" y="0"/>
                </a:lnTo>
                <a:lnTo>
                  <a:pt x="1110426" y="563464"/>
                </a:lnTo>
                <a:lnTo>
                  <a:pt x="0" y="56346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r="-206758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0" name="TextBox 60"/>
          <p:cNvSpPr txBox="1"/>
          <p:nvPr/>
        </p:nvSpPr>
        <p:spPr>
          <a:xfrm>
            <a:off x="2261926" y="488551"/>
            <a:ext cx="1793384" cy="485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14"/>
              </a:lnSpc>
              <a:spcBef>
                <a:spcPct val="0"/>
              </a:spcBef>
            </a:pPr>
            <a:r>
              <a:rPr lang="en-US" sz="2909" spc="8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Apeiron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81514" y="3434204"/>
            <a:ext cx="714656" cy="481500"/>
          </a:xfrm>
          <a:custGeom>
            <a:avLst/>
            <a:gdLst/>
            <a:ahLst/>
            <a:cxnLst/>
            <a:rect l="l" t="t" r="r" b="b"/>
            <a:pathLst>
              <a:path w="714656" h="481500">
                <a:moveTo>
                  <a:pt x="0" y="0"/>
                </a:moveTo>
                <a:lnTo>
                  <a:pt x="714657" y="0"/>
                </a:lnTo>
                <a:lnTo>
                  <a:pt x="714657" y="481499"/>
                </a:lnTo>
                <a:lnTo>
                  <a:pt x="0" y="481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3135517" y="894064"/>
            <a:ext cx="12016966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59"/>
              </a:lnSpc>
            </a:pPr>
            <a:r>
              <a:rPr lang="en-US" sz="4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Functional Safety Consulting Engagements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172421" y="3151249"/>
            <a:ext cx="5971579" cy="82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Reliance Industries, India: ITCC System for 14 gas compressor​ trains using Tricon &amp; TriGP.​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172421" y="4555146"/>
            <a:ext cx="4462896" cy="82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Ethydcо (Egypt): 3 ITCC compressor systems.​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72421" y="5870398"/>
            <a:ext cx="4792802" cy="82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PT Petrokimia Gresik (Indonesia): 4 ITCC compressor systems.​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72421" y="7185650"/>
            <a:ext cx="4462896" cy="82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Sembcorp Cogen, Singapore - Fire Alarm (FAS).​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72421" y="8500902"/>
            <a:ext cx="4462896" cy="82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ExxonMobil, Singapore - SHDS (ESD).​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81514" y="2115805"/>
            <a:ext cx="7162486" cy="48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2543" b="1">
                <a:solidFill>
                  <a:srgbClr val="006F7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TRICONEX SAFETY CONTROLLERS (2011-2017)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74686" y="3151249"/>
            <a:ext cx="6133040" cy="82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Multiple LNG Ships (2004-2011): Boiler Control, BMS, &amp; HD/LD Gas​ Compressor Control.​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68120" y="4555146"/>
            <a:ext cx="5295898" cy="82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VSP RP3 FGS (Siemens-Protocols) 2005​ Operator panel HMI development.​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374686" y="5937073"/>
            <a:ext cx="5289332" cy="829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212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VSP BK9 FGS (Intellution-Fix32) 2003​ HMI development FGS system.​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183780" y="2115805"/>
            <a:ext cx="7075520" cy="483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0"/>
              </a:lnSpc>
            </a:pPr>
            <a:r>
              <a:rPr lang="en-US" sz="2543" b="1">
                <a:solidFill>
                  <a:srgbClr val="006F74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SIEMENS SAFETY CONTROLLERS (2004-2011)​</a:t>
            </a:r>
          </a:p>
        </p:txBody>
      </p:sp>
      <p:sp>
        <p:nvSpPr>
          <p:cNvPr id="14" name="Freeform 14"/>
          <p:cNvSpPr/>
          <p:nvPr/>
        </p:nvSpPr>
        <p:spPr>
          <a:xfrm>
            <a:off x="1981514" y="4814288"/>
            <a:ext cx="714656" cy="481500"/>
          </a:xfrm>
          <a:custGeom>
            <a:avLst/>
            <a:gdLst/>
            <a:ahLst/>
            <a:cxnLst/>
            <a:rect l="l" t="t" r="r" b="b"/>
            <a:pathLst>
              <a:path w="714656" h="481500">
                <a:moveTo>
                  <a:pt x="0" y="0"/>
                </a:moveTo>
                <a:lnTo>
                  <a:pt x="714657" y="0"/>
                </a:lnTo>
                <a:lnTo>
                  <a:pt x="714657" y="481500"/>
                </a:lnTo>
                <a:lnTo>
                  <a:pt x="0" y="48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1981514" y="6129540"/>
            <a:ext cx="714656" cy="481500"/>
          </a:xfrm>
          <a:custGeom>
            <a:avLst/>
            <a:gdLst/>
            <a:ahLst/>
            <a:cxnLst/>
            <a:rect l="l" t="t" r="r" b="b"/>
            <a:pathLst>
              <a:path w="714656" h="481500">
                <a:moveTo>
                  <a:pt x="0" y="0"/>
                </a:moveTo>
                <a:lnTo>
                  <a:pt x="714657" y="0"/>
                </a:lnTo>
                <a:lnTo>
                  <a:pt x="714657" y="481500"/>
                </a:lnTo>
                <a:lnTo>
                  <a:pt x="0" y="48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981514" y="7444792"/>
            <a:ext cx="714656" cy="481500"/>
          </a:xfrm>
          <a:custGeom>
            <a:avLst/>
            <a:gdLst/>
            <a:ahLst/>
            <a:cxnLst/>
            <a:rect l="l" t="t" r="r" b="b"/>
            <a:pathLst>
              <a:path w="714656" h="481500">
                <a:moveTo>
                  <a:pt x="0" y="0"/>
                </a:moveTo>
                <a:lnTo>
                  <a:pt x="714657" y="0"/>
                </a:lnTo>
                <a:lnTo>
                  <a:pt x="714657" y="481500"/>
                </a:lnTo>
                <a:lnTo>
                  <a:pt x="0" y="48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1981514" y="8760044"/>
            <a:ext cx="714656" cy="481500"/>
          </a:xfrm>
          <a:custGeom>
            <a:avLst/>
            <a:gdLst/>
            <a:ahLst/>
            <a:cxnLst/>
            <a:rect l="l" t="t" r="r" b="b"/>
            <a:pathLst>
              <a:path w="714656" h="481500">
                <a:moveTo>
                  <a:pt x="0" y="0"/>
                </a:moveTo>
                <a:lnTo>
                  <a:pt x="714657" y="0"/>
                </a:lnTo>
                <a:lnTo>
                  <a:pt x="714657" y="481500"/>
                </a:lnTo>
                <a:lnTo>
                  <a:pt x="0" y="48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8" name="Freeform 18"/>
          <p:cNvSpPr/>
          <p:nvPr/>
        </p:nvSpPr>
        <p:spPr>
          <a:xfrm>
            <a:off x="10177214" y="3434204"/>
            <a:ext cx="714656" cy="481500"/>
          </a:xfrm>
          <a:custGeom>
            <a:avLst/>
            <a:gdLst/>
            <a:ahLst/>
            <a:cxnLst/>
            <a:rect l="l" t="t" r="r" b="b"/>
            <a:pathLst>
              <a:path w="714656" h="481500">
                <a:moveTo>
                  <a:pt x="0" y="0"/>
                </a:moveTo>
                <a:lnTo>
                  <a:pt x="714656" y="0"/>
                </a:lnTo>
                <a:lnTo>
                  <a:pt x="714656" y="481499"/>
                </a:lnTo>
                <a:lnTo>
                  <a:pt x="0" y="481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Freeform 19"/>
          <p:cNvSpPr/>
          <p:nvPr/>
        </p:nvSpPr>
        <p:spPr>
          <a:xfrm>
            <a:off x="10183780" y="4815730"/>
            <a:ext cx="714656" cy="481500"/>
          </a:xfrm>
          <a:custGeom>
            <a:avLst/>
            <a:gdLst/>
            <a:ahLst/>
            <a:cxnLst/>
            <a:rect l="l" t="t" r="r" b="b"/>
            <a:pathLst>
              <a:path w="714656" h="481500">
                <a:moveTo>
                  <a:pt x="0" y="0"/>
                </a:moveTo>
                <a:lnTo>
                  <a:pt x="714656" y="0"/>
                </a:lnTo>
                <a:lnTo>
                  <a:pt x="714656" y="481500"/>
                </a:lnTo>
                <a:lnTo>
                  <a:pt x="0" y="48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0" name="Freeform 20"/>
          <p:cNvSpPr/>
          <p:nvPr/>
        </p:nvSpPr>
        <p:spPr>
          <a:xfrm>
            <a:off x="10183780" y="6189320"/>
            <a:ext cx="714656" cy="481500"/>
          </a:xfrm>
          <a:custGeom>
            <a:avLst/>
            <a:gdLst/>
            <a:ahLst/>
            <a:cxnLst/>
            <a:rect l="l" t="t" r="r" b="b"/>
            <a:pathLst>
              <a:path w="714656" h="481500">
                <a:moveTo>
                  <a:pt x="0" y="0"/>
                </a:moveTo>
                <a:lnTo>
                  <a:pt x="714656" y="0"/>
                </a:lnTo>
                <a:lnTo>
                  <a:pt x="714656" y="481500"/>
                </a:lnTo>
                <a:lnTo>
                  <a:pt x="0" y="48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1" name="Group 21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24336" y="2339521"/>
            <a:ext cx="14171066" cy="6412407"/>
          </a:xfrm>
          <a:custGeom>
            <a:avLst/>
            <a:gdLst/>
            <a:ahLst/>
            <a:cxnLst/>
            <a:rect l="l" t="t" r="r" b="b"/>
            <a:pathLst>
              <a:path w="14171066" h="6412407">
                <a:moveTo>
                  <a:pt x="0" y="0"/>
                </a:moveTo>
                <a:lnTo>
                  <a:pt x="14171066" y="0"/>
                </a:lnTo>
                <a:lnTo>
                  <a:pt x="14171066" y="6412408"/>
                </a:lnTo>
                <a:lnTo>
                  <a:pt x="0" y="64124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4362743" y="586455"/>
            <a:ext cx="9562514" cy="753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13"/>
              </a:lnSpc>
            </a:pPr>
            <a:r>
              <a:rPr lang="en-US" sz="5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Team Certifications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631483" y="9229725"/>
            <a:ext cx="11356771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Committed to Uncompromising Safety Standards​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861404" y="283721"/>
            <a:ext cx="0" cy="10003279"/>
          </a:xfrm>
          <a:prstGeom prst="line">
            <a:avLst/>
          </a:prstGeom>
          <a:ln w="19050" cap="flat">
            <a:solidFill>
              <a:srgbClr val="7ED95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1861404" y="283721"/>
            <a:ext cx="4621279" cy="766892"/>
          </a:xfrm>
          <a:custGeom>
            <a:avLst/>
            <a:gdLst/>
            <a:ahLst/>
            <a:cxnLst/>
            <a:rect l="l" t="t" r="r" b="b"/>
            <a:pathLst>
              <a:path w="4621279" h="766892">
                <a:moveTo>
                  <a:pt x="0" y="0"/>
                </a:moveTo>
                <a:lnTo>
                  <a:pt x="4621279" y="0"/>
                </a:lnTo>
                <a:lnTo>
                  <a:pt x="4621279" y="766893"/>
                </a:lnTo>
                <a:lnTo>
                  <a:pt x="0" y="766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639" t="-6724" b="-559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AutoShape 4"/>
          <p:cNvSpPr/>
          <p:nvPr/>
        </p:nvSpPr>
        <p:spPr>
          <a:xfrm>
            <a:off x="5643400" y="283721"/>
            <a:ext cx="0" cy="10003279"/>
          </a:xfrm>
          <a:prstGeom prst="line">
            <a:avLst/>
          </a:prstGeom>
          <a:ln w="19050" cap="flat">
            <a:solidFill>
              <a:srgbClr val="7ED95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5643400" y="283721"/>
            <a:ext cx="5585495" cy="766892"/>
          </a:xfrm>
          <a:custGeom>
            <a:avLst/>
            <a:gdLst/>
            <a:ahLst/>
            <a:cxnLst/>
            <a:rect l="l" t="t" r="r" b="b"/>
            <a:pathLst>
              <a:path w="5585495" h="766892">
                <a:moveTo>
                  <a:pt x="0" y="0"/>
                </a:moveTo>
                <a:lnTo>
                  <a:pt x="5585495" y="0"/>
                </a:lnTo>
                <a:lnTo>
                  <a:pt x="5585495" y="766893"/>
                </a:lnTo>
                <a:lnTo>
                  <a:pt x="0" y="7668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639" t="-18559" b="-17191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6" name="Group 6"/>
          <p:cNvGrpSpPr/>
          <p:nvPr/>
        </p:nvGrpSpPr>
        <p:grpSpPr>
          <a:xfrm>
            <a:off x="5643400" y="2653599"/>
            <a:ext cx="581025" cy="225767"/>
            <a:chOff x="0" y="0"/>
            <a:chExt cx="774700" cy="301023"/>
          </a:xfrm>
        </p:grpSpPr>
        <p:sp>
          <p:nvSpPr>
            <p:cNvPr id="7" name="AutoShape 7"/>
            <p:cNvSpPr/>
            <p:nvPr/>
          </p:nvSpPr>
          <p:spPr>
            <a:xfrm flipV="1">
              <a:off x="0" y="150512"/>
              <a:ext cx="507258" cy="0"/>
            </a:xfrm>
            <a:prstGeom prst="line">
              <a:avLst/>
            </a:prstGeom>
            <a:ln w="50800" cap="flat">
              <a:solidFill>
                <a:srgbClr val="7ED95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473677" y="0"/>
              <a:ext cx="301023" cy="301023"/>
              <a:chOff x="0" y="0"/>
              <a:chExt cx="59461" cy="5946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00AA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1028700" y="4068586"/>
            <a:ext cx="4403982" cy="1486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13"/>
              </a:lnSpc>
            </a:pPr>
            <a:r>
              <a:rPr lang="en-US" sz="5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Engineering References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13879" y="496157"/>
            <a:ext cx="9562514" cy="35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38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Project References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89410" y="496157"/>
            <a:ext cx="5487984" cy="351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238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Metering System Liquid &amp; Gas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67918" y="2547375"/>
            <a:ext cx="4950729" cy="438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FAT &amp; SAT​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67918" y="4802359"/>
            <a:ext cx="495072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Meter to Meter Verification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67918" y="3674900"/>
            <a:ext cx="495072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System Validation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467918" y="5851183"/>
            <a:ext cx="495072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Preventive Maintenance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67918" y="6955336"/>
            <a:ext cx="4950729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8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Proving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5643400" y="3823768"/>
            <a:ext cx="581025" cy="225767"/>
            <a:chOff x="0" y="0"/>
            <a:chExt cx="774700" cy="301023"/>
          </a:xfrm>
        </p:grpSpPr>
        <p:sp>
          <p:nvSpPr>
            <p:cNvPr id="20" name="AutoShape 20"/>
            <p:cNvSpPr/>
            <p:nvPr/>
          </p:nvSpPr>
          <p:spPr>
            <a:xfrm flipV="1">
              <a:off x="0" y="150512"/>
              <a:ext cx="507258" cy="0"/>
            </a:xfrm>
            <a:prstGeom prst="line">
              <a:avLst/>
            </a:prstGeom>
            <a:ln w="50800" cap="flat">
              <a:solidFill>
                <a:srgbClr val="7ED95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473677" y="0"/>
              <a:ext cx="301023" cy="301023"/>
              <a:chOff x="0" y="0"/>
              <a:chExt cx="59461" cy="5946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00AA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5643400" y="4945867"/>
            <a:ext cx="581025" cy="225767"/>
            <a:chOff x="0" y="0"/>
            <a:chExt cx="774700" cy="301023"/>
          </a:xfrm>
        </p:grpSpPr>
        <p:sp>
          <p:nvSpPr>
            <p:cNvPr id="25" name="AutoShape 25"/>
            <p:cNvSpPr/>
            <p:nvPr/>
          </p:nvSpPr>
          <p:spPr>
            <a:xfrm flipV="1">
              <a:off x="0" y="150512"/>
              <a:ext cx="507258" cy="0"/>
            </a:xfrm>
            <a:prstGeom prst="line">
              <a:avLst/>
            </a:prstGeom>
            <a:ln w="50800" cap="flat">
              <a:solidFill>
                <a:srgbClr val="7ED95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473677" y="0"/>
              <a:ext cx="301023" cy="301023"/>
              <a:chOff x="0" y="0"/>
              <a:chExt cx="59461" cy="59461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00AA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5643400" y="5957374"/>
            <a:ext cx="581025" cy="225767"/>
            <a:chOff x="0" y="0"/>
            <a:chExt cx="774700" cy="301023"/>
          </a:xfrm>
        </p:grpSpPr>
        <p:sp>
          <p:nvSpPr>
            <p:cNvPr id="30" name="AutoShape 30"/>
            <p:cNvSpPr/>
            <p:nvPr/>
          </p:nvSpPr>
          <p:spPr>
            <a:xfrm flipV="1">
              <a:off x="0" y="150512"/>
              <a:ext cx="507258" cy="0"/>
            </a:xfrm>
            <a:prstGeom prst="line">
              <a:avLst/>
            </a:prstGeom>
            <a:ln w="50800" cap="flat">
              <a:solidFill>
                <a:srgbClr val="7ED95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473677" y="0"/>
              <a:ext cx="301023" cy="301023"/>
              <a:chOff x="0" y="0"/>
              <a:chExt cx="59461" cy="5946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00AA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5643400" y="7078491"/>
            <a:ext cx="581025" cy="225767"/>
            <a:chOff x="0" y="0"/>
            <a:chExt cx="774700" cy="301023"/>
          </a:xfrm>
        </p:grpSpPr>
        <p:sp>
          <p:nvSpPr>
            <p:cNvPr id="35" name="AutoShape 35"/>
            <p:cNvSpPr/>
            <p:nvPr/>
          </p:nvSpPr>
          <p:spPr>
            <a:xfrm flipV="1">
              <a:off x="0" y="150512"/>
              <a:ext cx="507258" cy="0"/>
            </a:xfrm>
            <a:prstGeom prst="line">
              <a:avLst/>
            </a:prstGeom>
            <a:ln w="50800" cap="flat">
              <a:solidFill>
                <a:srgbClr val="7ED957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473677" y="0"/>
              <a:ext cx="301023" cy="301023"/>
              <a:chOff x="0" y="0"/>
              <a:chExt cx="59461" cy="5946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00AA00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11732701" y="1948193"/>
            <a:ext cx="5761544" cy="7435547"/>
            <a:chOff x="0" y="0"/>
            <a:chExt cx="7682059" cy="9914062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105738"/>
              <a:ext cx="316750" cy="316750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794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13229" y="971925"/>
              <a:ext cx="316750" cy="316750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794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969582" y="0"/>
              <a:ext cx="6712477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2303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Sembcorp Cogen, Singapore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82440" y="901700"/>
              <a:ext cx="5350870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2303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Sembgas, Singapore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9582" y="1853053"/>
              <a:ext cx="5108884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2303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Power Gas, Singapore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9582" y="2754753"/>
              <a:ext cx="4933148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2303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Air Liquide, Singapore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9582" y="3721003"/>
              <a:ext cx="5526257" cy="4572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2303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Linde, Singapore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69582" y="4686203"/>
              <a:ext cx="6712477" cy="45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2303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BW Offshore Adolo FPSO, Singapore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9582" y="5638791"/>
              <a:ext cx="5526257" cy="45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2303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Modec TEN FPSO, Singapore 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69582" y="6591379"/>
              <a:ext cx="6222318" cy="45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2303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PTTEP Yadana Platform, Myanmar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69582" y="7565103"/>
              <a:ext cx="4547611" cy="45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2303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PVGas, Vietnam​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69582" y="8491486"/>
              <a:ext cx="6557960" cy="45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2303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Chevron, Bangladesh​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9582" y="9456774"/>
              <a:ext cx="6557960" cy="457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764"/>
                </a:lnSpc>
              </a:pPr>
              <a:r>
                <a:rPr lang="en-US" sz="2303">
                  <a:solidFill>
                    <a:srgbClr val="333333"/>
                  </a:solidFill>
                  <a:latin typeface="Open Sans"/>
                  <a:ea typeface="Open Sans"/>
                  <a:cs typeface="Open Sans"/>
                  <a:sym typeface="Open Sans"/>
                </a:rPr>
                <a:t>Perisai Kamelia FPSO, Malaysia</a:t>
              </a:r>
            </a:p>
          </p:txBody>
        </p:sp>
        <p:grpSp>
          <p:nvGrpSpPr>
            <p:cNvPr id="57" name="Group 57"/>
            <p:cNvGrpSpPr/>
            <p:nvPr/>
          </p:nvGrpSpPr>
          <p:grpSpPr>
            <a:xfrm>
              <a:off x="0" y="1923278"/>
              <a:ext cx="316750" cy="316750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794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13229" y="2875028"/>
              <a:ext cx="316750" cy="316750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794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0" y="3791228"/>
              <a:ext cx="316750" cy="316750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794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0" y="4742978"/>
              <a:ext cx="316750" cy="316750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794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0" y="5730277"/>
              <a:ext cx="316750" cy="316750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794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0" y="6682026"/>
              <a:ext cx="316750" cy="316750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794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0" y="7633776"/>
              <a:ext cx="316750" cy="316750"/>
              <a:chOff x="0" y="0"/>
              <a:chExt cx="812800" cy="8128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794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0" y="8585525"/>
              <a:ext cx="316750" cy="316750"/>
              <a:chOff x="0" y="0"/>
              <a:chExt cx="812800" cy="81280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794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13229" y="9537275"/>
              <a:ext cx="316750" cy="316750"/>
              <a:chOff x="0" y="0"/>
              <a:chExt cx="812800" cy="8128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F7945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84" name="Group 84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79061" y="1283520"/>
            <a:ext cx="382834" cy="476310"/>
          </a:xfrm>
          <a:custGeom>
            <a:avLst/>
            <a:gdLst/>
            <a:ahLst/>
            <a:cxnLst/>
            <a:rect l="l" t="t" r="r" b="b"/>
            <a:pathLst>
              <a:path w="382834" h="476310">
                <a:moveTo>
                  <a:pt x="0" y="0"/>
                </a:moveTo>
                <a:lnTo>
                  <a:pt x="382834" y="0"/>
                </a:lnTo>
                <a:lnTo>
                  <a:pt x="382834" y="476310"/>
                </a:lnTo>
                <a:lnTo>
                  <a:pt x="0" y="476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9180586" y="1619789"/>
            <a:ext cx="7633262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End-to-e</a:t>
            </a:r>
            <a:r>
              <a:rPr lang="en-US" sz="1599" u="none" strike="noStrike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nd E&amp;I solutions from engineering design through physical fabrication​ and on-site installation.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80586" y="3307936"/>
            <a:ext cx="7633262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Expe</a:t>
            </a:r>
            <a:r>
              <a:rPr lang="en-US" sz="1599" u="none" strike="noStrike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rt review of electrical and instrumentation designs with professional​</a:t>
            </a:r>
          </a:p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 u="none" strike="noStrike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consultancy support.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80586" y="4999814"/>
            <a:ext cx="8078714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Compreh</a:t>
            </a:r>
            <a:r>
              <a:rPr lang="en-US" sz="1599" u="none" strike="noStrike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ensive turnkey field services including system start-up, commissioning,​ and handover support.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80586" y="6683296"/>
            <a:ext cx="7633262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Ongo</a:t>
            </a:r>
            <a:r>
              <a:rPr lang="en-US" sz="1599" u="none" strike="noStrike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ing maintenance services to ensure reliable and safe plant operations and​ system uptime.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80586" y="981075"/>
            <a:ext cx="584586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Design, Fabrication &amp; Installation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79821" y="2674132"/>
            <a:ext cx="7084964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Engineering Design Review &amp; Consultancy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79055" y="4370921"/>
            <a:ext cx="5541503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Start-Up &amp; Turnkey Field Services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78290" y="6064074"/>
            <a:ext cx="508188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Plant Maintenance Support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80586" y="8767666"/>
            <a:ext cx="6468976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Sourc</a:t>
            </a:r>
            <a:r>
              <a:rPr lang="en-US" sz="1599" u="none" strike="noStrike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ing and procurement of quality electrical and mechanical components for​ industrial projects.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78290" y="7709456"/>
            <a:ext cx="7635558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01010"/>
                </a:solidFill>
                <a:latin typeface="Open Sans"/>
                <a:ea typeface="Open Sans"/>
                <a:cs typeface="Open Sans"/>
                <a:sym typeface="Open Sans"/>
              </a:rPr>
              <a:t>Electrical &amp; Mechanical Components Procurement Services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965593"/>
            <a:ext cx="6475855" cy="1574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5"/>
              </a:lnSpc>
            </a:pPr>
            <a:r>
              <a:rPr lang="en-US" sz="5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Electrical &amp; Instrumentation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8479061" y="3038355"/>
            <a:ext cx="382834" cy="476310"/>
          </a:xfrm>
          <a:custGeom>
            <a:avLst/>
            <a:gdLst/>
            <a:ahLst/>
            <a:cxnLst/>
            <a:rect l="l" t="t" r="r" b="b"/>
            <a:pathLst>
              <a:path w="382834" h="476310">
                <a:moveTo>
                  <a:pt x="0" y="0"/>
                </a:moveTo>
                <a:lnTo>
                  <a:pt x="382834" y="0"/>
                </a:lnTo>
                <a:lnTo>
                  <a:pt x="382834" y="476310"/>
                </a:lnTo>
                <a:lnTo>
                  <a:pt x="0" y="476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8479061" y="4667190"/>
            <a:ext cx="382834" cy="476310"/>
          </a:xfrm>
          <a:custGeom>
            <a:avLst/>
            <a:gdLst/>
            <a:ahLst/>
            <a:cxnLst/>
            <a:rect l="l" t="t" r="r" b="b"/>
            <a:pathLst>
              <a:path w="382834" h="476310">
                <a:moveTo>
                  <a:pt x="0" y="0"/>
                </a:moveTo>
                <a:lnTo>
                  <a:pt x="382834" y="0"/>
                </a:lnTo>
                <a:lnTo>
                  <a:pt x="382834" y="476310"/>
                </a:lnTo>
                <a:lnTo>
                  <a:pt x="0" y="476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8479061" y="6419850"/>
            <a:ext cx="382834" cy="476310"/>
          </a:xfrm>
          <a:custGeom>
            <a:avLst/>
            <a:gdLst/>
            <a:ahLst/>
            <a:cxnLst/>
            <a:rect l="l" t="t" r="r" b="b"/>
            <a:pathLst>
              <a:path w="382834" h="476310">
                <a:moveTo>
                  <a:pt x="0" y="0"/>
                </a:moveTo>
                <a:lnTo>
                  <a:pt x="382834" y="0"/>
                </a:lnTo>
                <a:lnTo>
                  <a:pt x="382834" y="476310"/>
                </a:lnTo>
                <a:lnTo>
                  <a:pt x="0" y="476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7" name="Freeform 17"/>
          <p:cNvSpPr/>
          <p:nvPr/>
        </p:nvSpPr>
        <p:spPr>
          <a:xfrm>
            <a:off x="8479061" y="8415181"/>
            <a:ext cx="382834" cy="476310"/>
          </a:xfrm>
          <a:custGeom>
            <a:avLst/>
            <a:gdLst/>
            <a:ahLst/>
            <a:cxnLst/>
            <a:rect l="l" t="t" r="r" b="b"/>
            <a:pathLst>
              <a:path w="382834" h="476310">
                <a:moveTo>
                  <a:pt x="0" y="0"/>
                </a:moveTo>
                <a:lnTo>
                  <a:pt x="382834" y="0"/>
                </a:lnTo>
                <a:lnTo>
                  <a:pt x="382834" y="476310"/>
                </a:lnTo>
                <a:lnTo>
                  <a:pt x="0" y="4763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8" name="Group 18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74485" y="1913835"/>
            <a:ext cx="3709428" cy="39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ALLEN BRA</a:t>
            </a:r>
            <a:r>
              <a:rPr lang="en-US" sz="24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DLEY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679329" y="2587166"/>
            <a:ext cx="3705612" cy="54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SLC 5/04, 5/05, Compact Logix, Control Logix, Micro Logix, Trusted, AADVANCE</a:t>
            </a:r>
          </a:p>
        </p:txBody>
      </p:sp>
      <p:sp>
        <p:nvSpPr>
          <p:cNvPr id="4" name="Freeform 4"/>
          <p:cNvSpPr/>
          <p:nvPr/>
        </p:nvSpPr>
        <p:spPr>
          <a:xfrm>
            <a:off x="1907876" y="1860938"/>
            <a:ext cx="540067" cy="540067"/>
          </a:xfrm>
          <a:custGeom>
            <a:avLst/>
            <a:gdLst/>
            <a:ahLst/>
            <a:cxnLst/>
            <a:rect l="l" t="t" r="r" b="b"/>
            <a:pathLst>
              <a:path w="540067" h="540067">
                <a:moveTo>
                  <a:pt x="0" y="0"/>
                </a:moveTo>
                <a:lnTo>
                  <a:pt x="540067" y="0"/>
                </a:lnTo>
                <a:lnTo>
                  <a:pt x="540067" y="540067"/>
                </a:lnTo>
                <a:lnTo>
                  <a:pt x="0" y="54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362743" y="601467"/>
            <a:ext cx="9562514" cy="753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13"/>
              </a:lnSpc>
            </a:pPr>
            <a:r>
              <a:rPr lang="en-US" sz="5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Control System Platforms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79329" y="3317919"/>
            <a:ext cx="4315929" cy="54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Point I/O, Flex I/O, Control Net, Ethernet, factory Talk Suite  SCADA</a:t>
            </a: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2090681" y="2811240"/>
            <a:ext cx="333523" cy="129596"/>
            <a:chOff x="0" y="0"/>
            <a:chExt cx="444698" cy="172795"/>
          </a:xfrm>
        </p:grpSpPr>
        <p:sp>
          <p:nvSpPr>
            <p:cNvPr id="8" name="AutoShape 8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 rot="-10800000">
            <a:off x="2090681" y="3541993"/>
            <a:ext cx="333523" cy="129596"/>
            <a:chOff x="0" y="0"/>
            <a:chExt cx="444698" cy="172795"/>
          </a:xfrm>
        </p:grpSpPr>
        <p:sp>
          <p:nvSpPr>
            <p:cNvPr id="13" name="AutoShape 13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8087080" y="1913835"/>
            <a:ext cx="3709428" cy="39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SIEM</a:t>
            </a:r>
            <a:r>
              <a:rPr lang="en-US" sz="24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87080" y="2587232"/>
            <a:ext cx="3705612" cy="54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S7-1200, S7-1500, S7-400 and Safety Manager PLC</a:t>
            </a:r>
          </a:p>
        </p:txBody>
      </p:sp>
      <p:sp>
        <p:nvSpPr>
          <p:cNvPr id="19" name="Freeform 19"/>
          <p:cNvSpPr/>
          <p:nvPr/>
        </p:nvSpPr>
        <p:spPr>
          <a:xfrm>
            <a:off x="7315626" y="1861004"/>
            <a:ext cx="540067" cy="540067"/>
          </a:xfrm>
          <a:custGeom>
            <a:avLst/>
            <a:gdLst/>
            <a:ahLst/>
            <a:cxnLst/>
            <a:rect l="l" t="t" r="r" b="b"/>
            <a:pathLst>
              <a:path w="540067" h="540067">
                <a:moveTo>
                  <a:pt x="0" y="0"/>
                </a:moveTo>
                <a:lnTo>
                  <a:pt x="540068" y="0"/>
                </a:lnTo>
                <a:lnTo>
                  <a:pt x="540068" y="540067"/>
                </a:lnTo>
                <a:lnTo>
                  <a:pt x="0" y="54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Box 20"/>
          <p:cNvSpPr txBox="1"/>
          <p:nvPr/>
        </p:nvSpPr>
        <p:spPr>
          <a:xfrm>
            <a:off x="8087080" y="3317985"/>
            <a:ext cx="4315929" cy="54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Profibus, Profinet, MPI, ET200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WinCC and Cipmplicity HMI</a:t>
            </a:r>
          </a:p>
        </p:txBody>
      </p:sp>
      <p:grpSp>
        <p:nvGrpSpPr>
          <p:cNvPr id="21" name="Group 21"/>
          <p:cNvGrpSpPr/>
          <p:nvPr/>
        </p:nvGrpSpPr>
        <p:grpSpPr>
          <a:xfrm rot="-10800000">
            <a:off x="7498432" y="2811306"/>
            <a:ext cx="333523" cy="129596"/>
            <a:chOff x="0" y="0"/>
            <a:chExt cx="444698" cy="172795"/>
          </a:xfrm>
        </p:grpSpPr>
        <p:sp>
          <p:nvSpPr>
            <p:cNvPr id="22" name="AutoShape 22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grpSp>
        <p:nvGrpSpPr>
          <p:cNvPr id="26" name="Group 26"/>
          <p:cNvGrpSpPr/>
          <p:nvPr/>
        </p:nvGrpSpPr>
        <p:grpSpPr>
          <a:xfrm rot="-10800000">
            <a:off x="7498432" y="3542059"/>
            <a:ext cx="333523" cy="129596"/>
            <a:chOff x="0" y="0"/>
            <a:chExt cx="444698" cy="172795"/>
          </a:xfrm>
        </p:grpSpPr>
        <p:sp>
          <p:nvSpPr>
            <p:cNvPr id="27" name="AutoShape 27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31" name="TextBox 31"/>
          <p:cNvSpPr txBox="1"/>
          <p:nvPr/>
        </p:nvSpPr>
        <p:spPr>
          <a:xfrm>
            <a:off x="13308627" y="1913901"/>
            <a:ext cx="3709428" cy="39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GENERA</a:t>
            </a:r>
            <a:r>
              <a:rPr lang="en-US" sz="24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 ELECTRIC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315841" y="2676743"/>
            <a:ext cx="3705612" cy="26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GE RX7I, 90-30, 90-70</a:t>
            </a:r>
          </a:p>
        </p:txBody>
      </p:sp>
      <p:sp>
        <p:nvSpPr>
          <p:cNvPr id="33" name="Freeform 33"/>
          <p:cNvSpPr/>
          <p:nvPr/>
        </p:nvSpPr>
        <p:spPr>
          <a:xfrm>
            <a:off x="12540572" y="1860938"/>
            <a:ext cx="540067" cy="540067"/>
          </a:xfrm>
          <a:custGeom>
            <a:avLst/>
            <a:gdLst/>
            <a:ahLst/>
            <a:cxnLst/>
            <a:rect l="l" t="t" r="r" b="b"/>
            <a:pathLst>
              <a:path w="540067" h="540067">
                <a:moveTo>
                  <a:pt x="0" y="0"/>
                </a:moveTo>
                <a:lnTo>
                  <a:pt x="540067" y="0"/>
                </a:lnTo>
                <a:lnTo>
                  <a:pt x="540067" y="540067"/>
                </a:lnTo>
                <a:lnTo>
                  <a:pt x="0" y="54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Box 34"/>
          <p:cNvSpPr txBox="1"/>
          <p:nvPr/>
        </p:nvSpPr>
        <p:spPr>
          <a:xfrm>
            <a:off x="13312025" y="3407495"/>
            <a:ext cx="4315929" cy="26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Proficy ME</a:t>
            </a:r>
          </a:p>
        </p:txBody>
      </p:sp>
      <p:grpSp>
        <p:nvGrpSpPr>
          <p:cNvPr id="35" name="Group 35"/>
          <p:cNvGrpSpPr/>
          <p:nvPr/>
        </p:nvGrpSpPr>
        <p:grpSpPr>
          <a:xfrm rot="-10800000">
            <a:off x="12723377" y="2811240"/>
            <a:ext cx="333523" cy="129596"/>
            <a:chOff x="0" y="0"/>
            <a:chExt cx="444698" cy="172795"/>
          </a:xfrm>
        </p:grpSpPr>
        <p:sp>
          <p:nvSpPr>
            <p:cNvPr id="36" name="AutoShape 36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 rot="-10800000">
            <a:off x="12723377" y="3541993"/>
            <a:ext cx="333523" cy="129596"/>
            <a:chOff x="0" y="0"/>
            <a:chExt cx="444698" cy="172795"/>
          </a:xfrm>
        </p:grpSpPr>
        <p:sp>
          <p:nvSpPr>
            <p:cNvPr id="41" name="AutoShape 41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45" name="TextBox 45"/>
          <p:cNvSpPr txBox="1"/>
          <p:nvPr/>
        </p:nvSpPr>
        <p:spPr>
          <a:xfrm>
            <a:off x="2683145" y="4320709"/>
            <a:ext cx="3709428" cy="39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HON</a:t>
            </a:r>
            <a:r>
              <a:rPr lang="en-US" sz="24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EYWELL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683145" y="5135749"/>
            <a:ext cx="3705612" cy="26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Experion DCS with C300 controller</a:t>
            </a:r>
          </a:p>
        </p:txBody>
      </p:sp>
      <p:sp>
        <p:nvSpPr>
          <p:cNvPr id="47" name="Freeform 47"/>
          <p:cNvSpPr/>
          <p:nvPr/>
        </p:nvSpPr>
        <p:spPr>
          <a:xfrm>
            <a:off x="1904477" y="4267813"/>
            <a:ext cx="540067" cy="540067"/>
          </a:xfrm>
          <a:custGeom>
            <a:avLst/>
            <a:gdLst/>
            <a:ahLst/>
            <a:cxnLst/>
            <a:rect l="l" t="t" r="r" b="b"/>
            <a:pathLst>
              <a:path w="540067" h="540067">
                <a:moveTo>
                  <a:pt x="0" y="0"/>
                </a:moveTo>
                <a:lnTo>
                  <a:pt x="540067" y="0"/>
                </a:lnTo>
                <a:lnTo>
                  <a:pt x="540067" y="540067"/>
                </a:lnTo>
                <a:lnTo>
                  <a:pt x="0" y="54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Box 48"/>
          <p:cNvSpPr txBox="1"/>
          <p:nvPr/>
        </p:nvSpPr>
        <p:spPr>
          <a:xfrm>
            <a:off x="2675931" y="5818709"/>
            <a:ext cx="4315929" cy="26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Experion SCADA</a:t>
            </a:r>
          </a:p>
        </p:txBody>
      </p:sp>
      <p:grpSp>
        <p:nvGrpSpPr>
          <p:cNvPr id="49" name="Group 49"/>
          <p:cNvGrpSpPr/>
          <p:nvPr/>
        </p:nvGrpSpPr>
        <p:grpSpPr>
          <a:xfrm rot="-10800000">
            <a:off x="2087283" y="5222454"/>
            <a:ext cx="333523" cy="129596"/>
            <a:chOff x="0" y="0"/>
            <a:chExt cx="444698" cy="172795"/>
          </a:xfrm>
        </p:grpSpPr>
        <p:sp>
          <p:nvSpPr>
            <p:cNvPr id="50" name="AutoShape 50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 rot="-10800000">
            <a:off x="2087283" y="5953206"/>
            <a:ext cx="333523" cy="129596"/>
            <a:chOff x="0" y="0"/>
            <a:chExt cx="444698" cy="172795"/>
          </a:xfrm>
        </p:grpSpPr>
        <p:sp>
          <p:nvSpPr>
            <p:cNvPr id="55" name="AutoShape 55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59" name="TextBox 59"/>
          <p:cNvSpPr txBox="1"/>
          <p:nvPr/>
        </p:nvSpPr>
        <p:spPr>
          <a:xfrm>
            <a:off x="8090420" y="4313189"/>
            <a:ext cx="3709428" cy="39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SCA</a:t>
            </a:r>
            <a:r>
              <a:rPr lang="en-US" sz="24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083681" y="4998446"/>
            <a:ext cx="3705612" cy="54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Wonderware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Ignition</a:t>
            </a:r>
          </a:p>
        </p:txBody>
      </p:sp>
      <p:sp>
        <p:nvSpPr>
          <p:cNvPr id="61" name="Freeform 61"/>
          <p:cNvSpPr/>
          <p:nvPr/>
        </p:nvSpPr>
        <p:spPr>
          <a:xfrm>
            <a:off x="7312228" y="4267879"/>
            <a:ext cx="540067" cy="540067"/>
          </a:xfrm>
          <a:custGeom>
            <a:avLst/>
            <a:gdLst/>
            <a:ahLst/>
            <a:cxnLst/>
            <a:rect l="l" t="t" r="r" b="b"/>
            <a:pathLst>
              <a:path w="540067" h="540067">
                <a:moveTo>
                  <a:pt x="0" y="0"/>
                </a:moveTo>
                <a:lnTo>
                  <a:pt x="540067" y="0"/>
                </a:lnTo>
                <a:lnTo>
                  <a:pt x="540067" y="540067"/>
                </a:lnTo>
                <a:lnTo>
                  <a:pt x="0" y="54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Box 62"/>
          <p:cNvSpPr txBox="1"/>
          <p:nvPr/>
        </p:nvSpPr>
        <p:spPr>
          <a:xfrm>
            <a:off x="8083681" y="5729199"/>
            <a:ext cx="4315929" cy="540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Wonderware Factory Talk Suite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Win CC Experion SCADA</a:t>
            </a:r>
          </a:p>
        </p:txBody>
      </p:sp>
      <p:grpSp>
        <p:nvGrpSpPr>
          <p:cNvPr id="63" name="Group 63"/>
          <p:cNvGrpSpPr/>
          <p:nvPr/>
        </p:nvGrpSpPr>
        <p:grpSpPr>
          <a:xfrm rot="-10800000">
            <a:off x="7495034" y="5222520"/>
            <a:ext cx="333523" cy="129596"/>
            <a:chOff x="0" y="0"/>
            <a:chExt cx="444698" cy="172795"/>
          </a:xfrm>
        </p:grpSpPr>
        <p:sp>
          <p:nvSpPr>
            <p:cNvPr id="64" name="AutoShape 64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65" name="Group 65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 rot="-10800000">
            <a:off x="7495034" y="5953272"/>
            <a:ext cx="333523" cy="129596"/>
            <a:chOff x="0" y="0"/>
            <a:chExt cx="444698" cy="172795"/>
          </a:xfrm>
        </p:grpSpPr>
        <p:sp>
          <p:nvSpPr>
            <p:cNvPr id="69" name="AutoShape 69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73" name="TextBox 73"/>
          <p:cNvSpPr txBox="1"/>
          <p:nvPr/>
        </p:nvSpPr>
        <p:spPr>
          <a:xfrm>
            <a:off x="13320202" y="4313189"/>
            <a:ext cx="3709428" cy="39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4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OMRON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3320202" y="5086486"/>
            <a:ext cx="3705612" cy="26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CJ, CP, NJ</a:t>
            </a:r>
          </a:p>
        </p:txBody>
      </p:sp>
      <p:sp>
        <p:nvSpPr>
          <p:cNvPr id="75" name="Freeform 75"/>
          <p:cNvSpPr/>
          <p:nvPr/>
        </p:nvSpPr>
        <p:spPr>
          <a:xfrm>
            <a:off x="12537174" y="4267813"/>
            <a:ext cx="540067" cy="540067"/>
          </a:xfrm>
          <a:custGeom>
            <a:avLst/>
            <a:gdLst/>
            <a:ahLst/>
            <a:cxnLst/>
            <a:rect l="l" t="t" r="r" b="b"/>
            <a:pathLst>
              <a:path w="540067" h="540067">
                <a:moveTo>
                  <a:pt x="0" y="0"/>
                </a:moveTo>
                <a:lnTo>
                  <a:pt x="540067" y="0"/>
                </a:lnTo>
                <a:lnTo>
                  <a:pt x="540067" y="540067"/>
                </a:lnTo>
                <a:lnTo>
                  <a:pt x="0" y="54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Box 76"/>
          <p:cNvSpPr txBox="1"/>
          <p:nvPr/>
        </p:nvSpPr>
        <p:spPr>
          <a:xfrm>
            <a:off x="13308627" y="5837511"/>
            <a:ext cx="4315929" cy="264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Ethernet, ProfiNet</a:t>
            </a:r>
          </a:p>
        </p:txBody>
      </p:sp>
      <p:grpSp>
        <p:nvGrpSpPr>
          <p:cNvPr id="77" name="Group 77"/>
          <p:cNvGrpSpPr/>
          <p:nvPr/>
        </p:nvGrpSpPr>
        <p:grpSpPr>
          <a:xfrm rot="-10800000">
            <a:off x="12719979" y="5222454"/>
            <a:ext cx="333523" cy="129596"/>
            <a:chOff x="0" y="0"/>
            <a:chExt cx="444698" cy="172795"/>
          </a:xfrm>
        </p:grpSpPr>
        <p:sp>
          <p:nvSpPr>
            <p:cNvPr id="78" name="AutoShape 78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79" name="Group 79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grpSp>
        <p:nvGrpSpPr>
          <p:cNvPr id="82" name="Group 82"/>
          <p:cNvGrpSpPr/>
          <p:nvPr/>
        </p:nvGrpSpPr>
        <p:grpSpPr>
          <a:xfrm rot="-10800000">
            <a:off x="12719979" y="5953206"/>
            <a:ext cx="333523" cy="129596"/>
            <a:chOff x="0" y="0"/>
            <a:chExt cx="444698" cy="172795"/>
          </a:xfrm>
        </p:grpSpPr>
        <p:sp>
          <p:nvSpPr>
            <p:cNvPr id="83" name="AutoShape 83"/>
            <p:cNvSpPr/>
            <p:nvPr/>
          </p:nvSpPr>
          <p:spPr>
            <a:xfrm>
              <a:off x="0" y="86398"/>
              <a:ext cx="271903" cy="0"/>
            </a:xfrm>
            <a:prstGeom prst="line">
              <a:avLst/>
            </a:prstGeom>
            <a:ln w="29161" cap="flat">
              <a:solidFill>
                <a:srgbClr val="BEC8D9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84" name="Group 84"/>
            <p:cNvGrpSpPr/>
            <p:nvPr/>
          </p:nvGrpSpPr>
          <p:grpSpPr>
            <a:xfrm>
              <a:off x="271903" y="0"/>
              <a:ext cx="172795" cy="172795"/>
              <a:chOff x="0" y="0"/>
              <a:chExt cx="59461" cy="59461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EC8D9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87" name="TextBox 87"/>
          <p:cNvSpPr txBox="1"/>
          <p:nvPr/>
        </p:nvSpPr>
        <p:spPr>
          <a:xfrm>
            <a:off x="5086724" y="8114159"/>
            <a:ext cx="3536583" cy="1644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Apeiron supports cross-platform migration opportunities across all listed manufacturers, ensuring minimal downtime and seamless transitions.</a:t>
            </a:r>
          </a:p>
          <a:p>
            <a:pPr algn="l">
              <a:lnSpc>
                <a:spcPts val="2240"/>
              </a:lnSpc>
              <a:spcBef>
                <a:spcPct val="0"/>
              </a:spcBef>
            </a:pPr>
            <a:endParaRPr lang="en-US" sz="160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12788054" y="8121822"/>
            <a:ext cx="3612242" cy="1092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End-to-end expertise spanning PLCs, DCS, safety controllers, I/O networks, and HMI/SCADA for diverse industrial environments.</a:t>
            </a:r>
          </a:p>
        </p:txBody>
      </p:sp>
      <p:sp>
        <p:nvSpPr>
          <p:cNvPr id="89" name="Freeform 89"/>
          <p:cNvSpPr/>
          <p:nvPr/>
        </p:nvSpPr>
        <p:spPr>
          <a:xfrm>
            <a:off x="1183782" y="6770943"/>
            <a:ext cx="15920436" cy="819341"/>
          </a:xfrm>
          <a:custGeom>
            <a:avLst/>
            <a:gdLst/>
            <a:ahLst/>
            <a:cxnLst/>
            <a:rect l="l" t="t" r="r" b="b"/>
            <a:pathLst>
              <a:path w="15920436" h="819341">
                <a:moveTo>
                  <a:pt x="0" y="0"/>
                </a:moveTo>
                <a:lnTo>
                  <a:pt x="15920436" y="0"/>
                </a:lnTo>
                <a:lnTo>
                  <a:pt x="15920436" y="819341"/>
                </a:lnTo>
                <a:lnTo>
                  <a:pt x="0" y="819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0436" b="-2043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0" name="TextBox 90"/>
          <p:cNvSpPr txBox="1"/>
          <p:nvPr/>
        </p:nvSpPr>
        <p:spPr>
          <a:xfrm>
            <a:off x="2650526" y="8455110"/>
            <a:ext cx="2059900" cy="57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CROSS-MIGRATION CAPABI</a:t>
            </a:r>
            <a:r>
              <a:rPr lang="en-US" sz="1700" b="1" u="none" strike="noStrik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LITY</a:t>
            </a:r>
          </a:p>
        </p:txBody>
      </p:sp>
      <p:sp>
        <p:nvSpPr>
          <p:cNvPr id="91" name="Freeform 91"/>
          <p:cNvSpPr/>
          <p:nvPr/>
        </p:nvSpPr>
        <p:spPr>
          <a:xfrm>
            <a:off x="1907876" y="8491120"/>
            <a:ext cx="540067" cy="540067"/>
          </a:xfrm>
          <a:custGeom>
            <a:avLst/>
            <a:gdLst/>
            <a:ahLst/>
            <a:cxnLst/>
            <a:rect l="l" t="t" r="r" b="b"/>
            <a:pathLst>
              <a:path w="540067" h="540067">
                <a:moveTo>
                  <a:pt x="0" y="0"/>
                </a:moveTo>
                <a:lnTo>
                  <a:pt x="540067" y="0"/>
                </a:lnTo>
                <a:lnTo>
                  <a:pt x="540067" y="540067"/>
                </a:lnTo>
                <a:lnTo>
                  <a:pt x="0" y="54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Box 92"/>
          <p:cNvSpPr txBox="1"/>
          <p:nvPr/>
        </p:nvSpPr>
        <p:spPr>
          <a:xfrm>
            <a:off x="9931691" y="8376351"/>
            <a:ext cx="2475364" cy="576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80"/>
              </a:lnSpc>
              <a:spcBef>
                <a:spcPct val="0"/>
              </a:spcBef>
            </a:pPr>
            <a:r>
              <a:rPr lang="en-US" sz="1700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COMPREHENSIVE PLATFORM COVERAGE</a:t>
            </a:r>
          </a:p>
        </p:txBody>
      </p:sp>
      <p:sp>
        <p:nvSpPr>
          <p:cNvPr id="93" name="Freeform 93"/>
          <p:cNvSpPr/>
          <p:nvPr/>
        </p:nvSpPr>
        <p:spPr>
          <a:xfrm>
            <a:off x="9189040" y="8412361"/>
            <a:ext cx="540067" cy="540067"/>
          </a:xfrm>
          <a:custGeom>
            <a:avLst/>
            <a:gdLst/>
            <a:ahLst/>
            <a:cxnLst/>
            <a:rect l="l" t="t" r="r" b="b"/>
            <a:pathLst>
              <a:path w="540067" h="540067">
                <a:moveTo>
                  <a:pt x="0" y="0"/>
                </a:moveTo>
                <a:lnTo>
                  <a:pt x="540067" y="0"/>
                </a:lnTo>
                <a:lnTo>
                  <a:pt x="540067" y="540067"/>
                </a:lnTo>
                <a:lnTo>
                  <a:pt x="0" y="5400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grpSp>
        <p:nvGrpSpPr>
          <p:cNvPr id="94" name="Group 94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48915" y="1714036"/>
            <a:ext cx="1617355" cy="1384082"/>
          </a:xfrm>
          <a:custGeom>
            <a:avLst/>
            <a:gdLst/>
            <a:ahLst/>
            <a:cxnLst/>
            <a:rect l="l" t="t" r="r" b="b"/>
            <a:pathLst>
              <a:path w="1617355" h="1384082">
                <a:moveTo>
                  <a:pt x="0" y="0"/>
                </a:moveTo>
                <a:lnTo>
                  <a:pt x="1617355" y="0"/>
                </a:lnTo>
                <a:lnTo>
                  <a:pt x="1617355" y="1384083"/>
                </a:lnTo>
                <a:lnTo>
                  <a:pt x="0" y="13840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4032584" y="1972936"/>
            <a:ext cx="2534894" cy="1125183"/>
          </a:xfrm>
          <a:custGeom>
            <a:avLst/>
            <a:gdLst/>
            <a:ahLst/>
            <a:cxnLst/>
            <a:rect l="l" t="t" r="r" b="b"/>
            <a:pathLst>
              <a:path w="2534894" h="1125183">
                <a:moveTo>
                  <a:pt x="0" y="0"/>
                </a:moveTo>
                <a:lnTo>
                  <a:pt x="2534895" y="0"/>
                </a:lnTo>
                <a:lnTo>
                  <a:pt x="2534895" y="1125183"/>
                </a:lnTo>
                <a:lnTo>
                  <a:pt x="0" y="11251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7836440" y="1668931"/>
            <a:ext cx="1961187" cy="2257946"/>
          </a:xfrm>
          <a:custGeom>
            <a:avLst/>
            <a:gdLst/>
            <a:ahLst/>
            <a:cxnLst/>
            <a:rect l="l" t="t" r="r" b="b"/>
            <a:pathLst>
              <a:path w="1961187" h="2257946">
                <a:moveTo>
                  <a:pt x="0" y="0"/>
                </a:moveTo>
                <a:lnTo>
                  <a:pt x="1961187" y="0"/>
                </a:lnTo>
                <a:lnTo>
                  <a:pt x="1961187" y="2257946"/>
                </a:lnTo>
                <a:lnTo>
                  <a:pt x="0" y="2257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11424504" y="2252971"/>
            <a:ext cx="2561182" cy="1089865"/>
          </a:xfrm>
          <a:custGeom>
            <a:avLst/>
            <a:gdLst/>
            <a:ahLst/>
            <a:cxnLst/>
            <a:rect l="l" t="t" r="r" b="b"/>
            <a:pathLst>
              <a:path w="2561182" h="1089865">
                <a:moveTo>
                  <a:pt x="0" y="0"/>
                </a:moveTo>
                <a:lnTo>
                  <a:pt x="2561182" y="0"/>
                </a:lnTo>
                <a:lnTo>
                  <a:pt x="2561182" y="1089865"/>
                </a:lnTo>
                <a:lnTo>
                  <a:pt x="0" y="10898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14896731" y="1731667"/>
            <a:ext cx="2205182" cy="1893580"/>
          </a:xfrm>
          <a:custGeom>
            <a:avLst/>
            <a:gdLst/>
            <a:ahLst/>
            <a:cxnLst/>
            <a:rect l="l" t="t" r="r" b="b"/>
            <a:pathLst>
              <a:path w="2205182" h="1893580">
                <a:moveTo>
                  <a:pt x="0" y="0"/>
                </a:moveTo>
                <a:lnTo>
                  <a:pt x="2205183" y="0"/>
                </a:lnTo>
                <a:lnTo>
                  <a:pt x="2205183" y="1893580"/>
                </a:lnTo>
                <a:lnTo>
                  <a:pt x="0" y="18935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Freeform 7"/>
          <p:cNvSpPr/>
          <p:nvPr/>
        </p:nvSpPr>
        <p:spPr>
          <a:xfrm>
            <a:off x="1148915" y="4928620"/>
            <a:ext cx="1703748" cy="1992869"/>
          </a:xfrm>
          <a:custGeom>
            <a:avLst/>
            <a:gdLst/>
            <a:ahLst/>
            <a:cxnLst/>
            <a:rect l="l" t="t" r="r" b="b"/>
            <a:pathLst>
              <a:path w="1703748" h="1992869">
                <a:moveTo>
                  <a:pt x="0" y="0"/>
                </a:moveTo>
                <a:lnTo>
                  <a:pt x="1703748" y="0"/>
                </a:lnTo>
                <a:lnTo>
                  <a:pt x="1703748" y="1992869"/>
                </a:lnTo>
                <a:lnTo>
                  <a:pt x="0" y="19928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4336928" y="4555392"/>
            <a:ext cx="1926207" cy="2252682"/>
          </a:xfrm>
          <a:custGeom>
            <a:avLst/>
            <a:gdLst/>
            <a:ahLst/>
            <a:cxnLst/>
            <a:rect l="l" t="t" r="r" b="b"/>
            <a:pathLst>
              <a:path w="1926207" h="2252682">
                <a:moveTo>
                  <a:pt x="0" y="0"/>
                </a:moveTo>
                <a:lnTo>
                  <a:pt x="1926207" y="0"/>
                </a:lnTo>
                <a:lnTo>
                  <a:pt x="1926207" y="2252683"/>
                </a:lnTo>
                <a:lnTo>
                  <a:pt x="0" y="225268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7836440" y="4985353"/>
            <a:ext cx="1205167" cy="1396304"/>
          </a:xfrm>
          <a:custGeom>
            <a:avLst/>
            <a:gdLst/>
            <a:ahLst/>
            <a:cxnLst/>
            <a:rect l="l" t="t" r="r" b="b"/>
            <a:pathLst>
              <a:path w="1205167" h="1396304">
                <a:moveTo>
                  <a:pt x="0" y="0"/>
                </a:moveTo>
                <a:lnTo>
                  <a:pt x="1205167" y="0"/>
                </a:lnTo>
                <a:lnTo>
                  <a:pt x="1205167" y="1396304"/>
                </a:lnTo>
                <a:lnTo>
                  <a:pt x="0" y="13963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119670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1416868" y="5091126"/>
            <a:ext cx="2568818" cy="1184756"/>
          </a:xfrm>
          <a:custGeom>
            <a:avLst/>
            <a:gdLst/>
            <a:ahLst/>
            <a:cxnLst/>
            <a:rect l="l" t="t" r="r" b="b"/>
            <a:pathLst>
              <a:path w="2568818" h="1184756">
                <a:moveTo>
                  <a:pt x="0" y="0"/>
                </a:moveTo>
                <a:lnTo>
                  <a:pt x="2568818" y="0"/>
                </a:lnTo>
                <a:lnTo>
                  <a:pt x="2568818" y="1184757"/>
                </a:lnTo>
                <a:lnTo>
                  <a:pt x="0" y="118475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14722502" y="4985353"/>
            <a:ext cx="2771023" cy="1645673"/>
          </a:xfrm>
          <a:custGeom>
            <a:avLst/>
            <a:gdLst/>
            <a:ahLst/>
            <a:cxnLst/>
            <a:rect l="l" t="t" r="r" b="b"/>
            <a:pathLst>
              <a:path w="2771023" h="1645673">
                <a:moveTo>
                  <a:pt x="0" y="0"/>
                </a:moveTo>
                <a:lnTo>
                  <a:pt x="2771023" y="0"/>
                </a:lnTo>
                <a:lnTo>
                  <a:pt x="2771023" y="1645673"/>
                </a:lnTo>
                <a:lnTo>
                  <a:pt x="0" y="16456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Freeform 12"/>
          <p:cNvSpPr/>
          <p:nvPr/>
        </p:nvSpPr>
        <p:spPr>
          <a:xfrm>
            <a:off x="3932021" y="7737340"/>
            <a:ext cx="2736021" cy="1515730"/>
          </a:xfrm>
          <a:custGeom>
            <a:avLst/>
            <a:gdLst/>
            <a:ahLst/>
            <a:cxnLst/>
            <a:rect l="l" t="t" r="r" b="b"/>
            <a:pathLst>
              <a:path w="2736021" h="1515730">
                <a:moveTo>
                  <a:pt x="0" y="0"/>
                </a:moveTo>
                <a:lnTo>
                  <a:pt x="2736021" y="0"/>
                </a:lnTo>
                <a:lnTo>
                  <a:pt x="2736021" y="1515729"/>
                </a:lnTo>
                <a:lnTo>
                  <a:pt x="0" y="151572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Freeform 13"/>
          <p:cNvSpPr/>
          <p:nvPr/>
        </p:nvSpPr>
        <p:spPr>
          <a:xfrm>
            <a:off x="8231864" y="7947391"/>
            <a:ext cx="2291337" cy="1305678"/>
          </a:xfrm>
          <a:custGeom>
            <a:avLst/>
            <a:gdLst/>
            <a:ahLst/>
            <a:cxnLst/>
            <a:rect l="l" t="t" r="r" b="b"/>
            <a:pathLst>
              <a:path w="2291337" h="1305678">
                <a:moveTo>
                  <a:pt x="0" y="0"/>
                </a:moveTo>
                <a:lnTo>
                  <a:pt x="2291337" y="0"/>
                </a:lnTo>
                <a:lnTo>
                  <a:pt x="2291337" y="1305678"/>
                </a:lnTo>
                <a:lnTo>
                  <a:pt x="0" y="130567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11416868" y="7596012"/>
            <a:ext cx="2776590" cy="1844971"/>
          </a:xfrm>
          <a:custGeom>
            <a:avLst/>
            <a:gdLst/>
            <a:ahLst/>
            <a:cxnLst/>
            <a:rect l="l" t="t" r="r" b="b"/>
            <a:pathLst>
              <a:path w="2776590" h="1844971">
                <a:moveTo>
                  <a:pt x="0" y="0"/>
                </a:moveTo>
                <a:lnTo>
                  <a:pt x="2776591" y="0"/>
                </a:lnTo>
                <a:lnTo>
                  <a:pt x="2776591" y="1844971"/>
                </a:lnTo>
                <a:lnTo>
                  <a:pt x="0" y="184497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4294419" y="601467"/>
            <a:ext cx="9562514" cy="753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13"/>
              </a:lnSpc>
            </a:pPr>
            <a:r>
              <a:rPr lang="en-US" sz="5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Selected Clientele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89744" y="3285686"/>
            <a:ext cx="735697" cy="441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9"/>
              </a:lnSpc>
              <a:spcBef>
                <a:spcPct val="0"/>
              </a:spcBef>
            </a:pPr>
            <a:r>
              <a:rPr lang="en-US" sz="2578">
                <a:solidFill>
                  <a:srgbClr val="FF3131"/>
                </a:solidFill>
                <a:latin typeface="Noto Sans Osage"/>
                <a:ea typeface="Noto Sans Osage"/>
                <a:cs typeface="Noto Sans Osage"/>
                <a:sym typeface="Noto Sans Osage"/>
              </a:rPr>
              <a:t>Shell​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3990" y="5433963"/>
            <a:ext cx="1540630" cy="441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9"/>
              </a:lnSpc>
              <a:spcBef>
                <a:spcPct val="0"/>
              </a:spcBef>
            </a:pPr>
            <a:r>
              <a:rPr lang="en-US" sz="2578">
                <a:solidFill>
                  <a:srgbClr val="000000"/>
                </a:solidFill>
                <a:latin typeface="Noto Sans Osage"/>
                <a:ea typeface="Noto Sans Osage"/>
                <a:cs typeface="Noto Sans Osage"/>
                <a:sym typeface="Noto Sans Osage"/>
              </a:rPr>
              <a:t>sembcorp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4CC9024C-878A-B9D6-CF14-D85E410C8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34919" y="2270049"/>
            <a:ext cx="3715062" cy="1935923"/>
            <a:chOff x="0" y="0"/>
            <a:chExt cx="979067" cy="5101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79067" cy="510193"/>
            </a:xfrm>
            <a:custGeom>
              <a:avLst/>
              <a:gdLst/>
              <a:ahLst/>
              <a:cxnLst/>
              <a:rect l="l" t="t" r="r" b="b"/>
              <a:pathLst>
                <a:path w="979067" h="510193">
                  <a:moveTo>
                    <a:pt x="33343" y="0"/>
                  </a:moveTo>
                  <a:lnTo>
                    <a:pt x="945724" y="0"/>
                  </a:lnTo>
                  <a:cubicBezTo>
                    <a:pt x="954568" y="0"/>
                    <a:pt x="963048" y="3513"/>
                    <a:pt x="969301" y="9766"/>
                  </a:cubicBezTo>
                  <a:cubicBezTo>
                    <a:pt x="975554" y="16019"/>
                    <a:pt x="979067" y="24500"/>
                    <a:pt x="979067" y="33343"/>
                  </a:cubicBezTo>
                  <a:lnTo>
                    <a:pt x="979067" y="476850"/>
                  </a:lnTo>
                  <a:cubicBezTo>
                    <a:pt x="979067" y="495265"/>
                    <a:pt x="964139" y="510193"/>
                    <a:pt x="945724" y="510193"/>
                  </a:cubicBezTo>
                  <a:lnTo>
                    <a:pt x="33343" y="510193"/>
                  </a:lnTo>
                  <a:cubicBezTo>
                    <a:pt x="14928" y="510193"/>
                    <a:pt x="0" y="495265"/>
                    <a:pt x="0" y="476850"/>
                  </a:cubicBezTo>
                  <a:lnTo>
                    <a:pt x="0" y="33343"/>
                  </a:lnTo>
                  <a:cubicBezTo>
                    <a:pt x="0" y="14928"/>
                    <a:pt x="14928" y="0"/>
                    <a:pt x="33343" y="0"/>
                  </a:cubicBezTo>
                  <a:close/>
                </a:path>
              </a:pathLst>
            </a:custGeom>
            <a:blipFill>
              <a:blip r:embed="rId2"/>
              <a:stretch>
                <a:fillRect l="-17412" r="-1741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387309" y="2270049"/>
            <a:ext cx="3715062" cy="1935923"/>
            <a:chOff x="0" y="0"/>
            <a:chExt cx="979067" cy="5101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79067" cy="510193"/>
            </a:xfrm>
            <a:custGeom>
              <a:avLst/>
              <a:gdLst/>
              <a:ahLst/>
              <a:cxnLst/>
              <a:rect l="l" t="t" r="r" b="b"/>
              <a:pathLst>
                <a:path w="979067" h="510193">
                  <a:moveTo>
                    <a:pt x="33343" y="0"/>
                  </a:moveTo>
                  <a:lnTo>
                    <a:pt x="945724" y="0"/>
                  </a:lnTo>
                  <a:cubicBezTo>
                    <a:pt x="954568" y="0"/>
                    <a:pt x="963048" y="3513"/>
                    <a:pt x="969301" y="9766"/>
                  </a:cubicBezTo>
                  <a:cubicBezTo>
                    <a:pt x="975554" y="16019"/>
                    <a:pt x="979067" y="24500"/>
                    <a:pt x="979067" y="33343"/>
                  </a:cubicBezTo>
                  <a:lnTo>
                    <a:pt x="979067" y="476850"/>
                  </a:lnTo>
                  <a:cubicBezTo>
                    <a:pt x="979067" y="495265"/>
                    <a:pt x="964139" y="510193"/>
                    <a:pt x="945724" y="510193"/>
                  </a:cubicBezTo>
                  <a:lnTo>
                    <a:pt x="33343" y="510193"/>
                  </a:lnTo>
                  <a:cubicBezTo>
                    <a:pt x="14928" y="510193"/>
                    <a:pt x="0" y="495265"/>
                    <a:pt x="0" y="476850"/>
                  </a:cubicBezTo>
                  <a:lnTo>
                    <a:pt x="0" y="33343"/>
                  </a:lnTo>
                  <a:cubicBezTo>
                    <a:pt x="0" y="14928"/>
                    <a:pt x="14928" y="0"/>
                    <a:pt x="33343" y="0"/>
                  </a:cubicBezTo>
                  <a:close/>
                </a:path>
              </a:pathLst>
            </a:custGeom>
            <a:blipFill>
              <a:blip r:embed="rId3"/>
              <a:stretch>
                <a:fillRect l="-17238" r="-1723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940696" y="2270049"/>
            <a:ext cx="3715062" cy="1935923"/>
            <a:chOff x="0" y="0"/>
            <a:chExt cx="979067" cy="51019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79067" cy="510193"/>
            </a:xfrm>
            <a:custGeom>
              <a:avLst/>
              <a:gdLst/>
              <a:ahLst/>
              <a:cxnLst/>
              <a:rect l="l" t="t" r="r" b="b"/>
              <a:pathLst>
                <a:path w="979067" h="510193">
                  <a:moveTo>
                    <a:pt x="33343" y="0"/>
                  </a:moveTo>
                  <a:lnTo>
                    <a:pt x="945724" y="0"/>
                  </a:lnTo>
                  <a:cubicBezTo>
                    <a:pt x="954568" y="0"/>
                    <a:pt x="963048" y="3513"/>
                    <a:pt x="969301" y="9766"/>
                  </a:cubicBezTo>
                  <a:cubicBezTo>
                    <a:pt x="975554" y="16019"/>
                    <a:pt x="979067" y="24500"/>
                    <a:pt x="979067" y="33343"/>
                  </a:cubicBezTo>
                  <a:lnTo>
                    <a:pt x="979067" y="476850"/>
                  </a:lnTo>
                  <a:cubicBezTo>
                    <a:pt x="979067" y="495265"/>
                    <a:pt x="964139" y="510193"/>
                    <a:pt x="945724" y="510193"/>
                  </a:cubicBezTo>
                  <a:lnTo>
                    <a:pt x="33343" y="510193"/>
                  </a:lnTo>
                  <a:cubicBezTo>
                    <a:pt x="14928" y="510193"/>
                    <a:pt x="0" y="495265"/>
                    <a:pt x="0" y="476850"/>
                  </a:cubicBezTo>
                  <a:lnTo>
                    <a:pt x="0" y="33343"/>
                  </a:lnTo>
                  <a:cubicBezTo>
                    <a:pt x="0" y="14928"/>
                    <a:pt x="14928" y="0"/>
                    <a:pt x="33343" y="0"/>
                  </a:cubicBezTo>
                  <a:close/>
                </a:path>
              </a:pathLst>
            </a:custGeom>
            <a:blipFill>
              <a:blip r:embed="rId4"/>
              <a:stretch>
                <a:fillRect l="-17675" r="-1767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834919" y="6138912"/>
            <a:ext cx="3715062" cy="1935923"/>
            <a:chOff x="0" y="0"/>
            <a:chExt cx="979067" cy="51019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79067" cy="510193"/>
            </a:xfrm>
            <a:custGeom>
              <a:avLst/>
              <a:gdLst/>
              <a:ahLst/>
              <a:cxnLst/>
              <a:rect l="l" t="t" r="r" b="b"/>
              <a:pathLst>
                <a:path w="979067" h="510193">
                  <a:moveTo>
                    <a:pt x="33343" y="0"/>
                  </a:moveTo>
                  <a:lnTo>
                    <a:pt x="945724" y="0"/>
                  </a:lnTo>
                  <a:cubicBezTo>
                    <a:pt x="954568" y="0"/>
                    <a:pt x="963048" y="3513"/>
                    <a:pt x="969301" y="9766"/>
                  </a:cubicBezTo>
                  <a:cubicBezTo>
                    <a:pt x="975554" y="16019"/>
                    <a:pt x="979067" y="24500"/>
                    <a:pt x="979067" y="33343"/>
                  </a:cubicBezTo>
                  <a:lnTo>
                    <a:pt x="979067" y="476850"/>
                  </a:lnTo>
                  <a:cubicBezTo>
                    <a:pt x="979067" y="495265"/>
                    <a:pt x="964139" y="510193"/>
                    <a:pt x="945724" y="510193"/>
                  </a:cubicBezTo>
                  <a:lnTo>
                    <a:pt x="33343" y="510193"/>
                  </a:lnTo>
                  <a:cubicBezTo>
                    <a:pt x="14928" y="510193"/>
                    <a:pt x="0" y="495265"/>
                    <a:pt x="0" y="476850"/>
                  </a:cubicBezTo>
                  <a:lnTo>
                    <a:pt x="0" y="33343"/>
                  </a:lnTo>
                  <a:cubicBezTo>
                    <a:pt x="0" y="14928"/>
                    <a:pt x="14928" y="0"/>
                    <a:pt x="33343" y="0"/>
                  </a:cubicBezTo>
                  <a:close/>
                </a:path>
              </a:pathLst>
            </a:custGeom>
            <a:blipFill>
              <a:blip r:embed="rId5"/>
              <a:stretch>
                <a:fillRect l="-16881" r="-1688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387808" y="6138912"/>
            <a:ext cx="3715062" cy="1834735"/>
            <a:chOff x="0" y="0"/>
            <a:chExt cx="979067" cy="4835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9067" cy="483526"/>
            </a:xfrm>
            <a:custGeom>
              <a:avLst/>
              <a:gdLst/>
              <a:ahLst/>
              <a:cxnLst/>
              <a:rect l="l" t="t" r="r" b="b"/>
              <a:pathLst>
                <a:path w="979067" h="483526">
                  <a:moveTo>
                    <a:pt x="33343" y="0"/>
                  </a:moveTo>
                  <a:lnTo>
                    <a:pt x="945724" y="0"/>
                  </a:lnTo>
                  <a:cubicBezTo>
                    <a:pt x="954568" y="0"/>
                    <a:pt x="963048" y="3513"/>
                    <a:pt x="969301" y="9766"/>
                  </a:cubicBezTo>
                  <a:cubicBezTo>
                    <a:pt x="975554" y="16019"/>
                    <a:pt x="979067" y="24500"/>
                    <a:pt x="979067" y="33343"/>
                  </a:cubicBezTo>
                  <a:lnTo>
                    <a:pt x="979067" y="450183"/>
                  </a:lnTo>
                  <a:cubicBezTo>
                    <a:pt x="979067" y="468598"/>
                    <a:pt x="964139" y="483526"/>
                    <a:pt x="945724" y="483526"/>
                  </a:cubicBezTo>
                  <a:lnTo>
                    <a:pt x="33343" y="483526"/>
                  </a:lnTo>
                  <a:cubicBezTo>
                    <a:pt x="14928" y="483526"/>
                    <a:pt x="0" y="468598"/>
                    <a:pt x="0" y="450183"/>
                  </a:cubicBezTo>
                  <a:lnTo>
                    <a:pt x="0" y="33343"/>
                  </a:lnTo>
                  <a:cubicBezTo>
                    <a:pt x="0" y="14928"/>
                    <a:pt x="14928" y="0"/>
                    <a:pt x="33343" y="0"/>
                  </a:cubicBezTo>
                  <a:close/>
                </a:path>
              </a:pathLst>
            </a:custGeom>
            <a:blipFill>
              <a:blip r:embed="rId6"/>
              <a:stretch>
                <a:fillRect t="-889" r="-32165" b="-88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940696" y="6138912"/>
            <a:ext cx="3715062" cy="1935923"/>
            <a:chOff x="0" y="0"/>
            <a:chExt cx="979067" cy="5101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79067" cy="510193"/>
            </a:xfrm>
            <a:custGeom>
              <a:avLst/>
              <a:gdLst/>
              <a:ahLst/>
              <a:cxnLst/>
              <a:rect l="l" t="t" r="r" b="b"/>
              <a:pathLst>
                <a:path w="979067" h="510193">
                  <a:moveTo>
                    <a:pt x="33343" y="0"/>
                  </a:moveTo>
                  <a:lnTo>
                    <a:pt x="945724" y="0"/>
                  </a:lnTo>
                  <a:cubicBezTo>
                    <a:pt x="954568" y="0"/>
                    <a:pt x="963048" y="3513"/>
                    <a:pt x="969301" y="9766"/>
                  </a:cubicBezTo>
                  <a:cubicBezTo>
                    <a:pt x="975554" y="16019"/>
                    <a:pt x="979067" y="24500"/>
                    <a:pt x="979067" y="33343"/>
                  </a:cubicBezTo>
                  <a:lnTo>
                    <a:pt x="979067" y="476850"/>
                  </a:lnTo>
                  <a:cubicBezTo>
                    <a:pt x="979067" y="495265"/>
                    <a:pt x="964139" y="510193"/>
                    <a:pt x="945724" y="510193"/>
                  </a:cubicBezTo>
                  <a:lnTo>
                    <a:pt x="33343" y="510193"/>
                  </a:lnTo>
                  <a:cubicBezTo>
                    <a:pt x="14928" y="510193"/>
                    <a:pt x="0" y="495265"/>
                    <a:pt x="0" y="476850"/>
                  </a:cubicBezTo>
                  <a:lnTo>
                    <a:pt x="0" y="33343"/>
                  </a:lnTo>
                  <a:cubicBezTo>
                    <a:pt x="0" y="14928"/>
                    <a:pt x="14928" y="0"/>
                    <a:pt x="33343" y="0"/>
                  </a:cubicBezTo>
                  <a:close/>
                </a:path>
              </a:pathLst>
            </a:custGeom>
            <a:blipFill>
              <a:blip r:embed="rId7"/>
              <a:stretch>
                <a:fillRect l="-20059" r="-20059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887518" y="676715"/>
            <a:ext cx="11484275" cy="753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13"/>
              </a:lnSpc>
            </a:pPr>
            <a:r>
              <a:rPr lang="en-US" sz="5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Site Installation References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85268" y="4908668"/>
            <a:ext cx="3004501" cy="372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9"/>
              </a:lnSpc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Hands-on installation of control and safety​</a:t>
            </a:r>
          </a:p>
          <a:p>
            <a:pPr algn="l">
              <a:lnSpc>
                <a:spcPts val="1509"/>
              </a:lnSpc>
              <a:spcBef>
                <a:spcPct val="0"/>
              </a:spcBef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systems across industrial facilities worldwide.​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65574" y="4453040"/>
            <a:ext cx="2853752" cy="23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92"/>
              </a:lnSpc>
            </a:pPr>
            <a:r>
              <a:rPr lang="en-US" sz="13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ON-SITE SYSTEM INTEGRATION​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917024" y="4941066"/>
            <a:ext cx="3377667" cy="372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9"/>
              </a:lnSpc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Execution of SAT, loop checks, and system​</a:t>
            </a:r>
          </a:p>
          <a:p>
            <a:pPr algn="l">
              <a:lnSpc>
                <a:spcPts val="1509"/>
              </a:lnSpc>
              <a:spcBef>
                <a:spcPct val="0"/>
              </a:spcBef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validation during live site commissioning​ phases.​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917024" y="4487054"/>
            <a:ext cx="3093339" cy="23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FIELD COMMISSIONING ACTIVITIES​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74214" y="4941066"/>
            <a:ext cx="3019527" cy="563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9"/>
              </a:lnSpc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Deployment of MCC, ESD, and​</a:t>
            </a:r>
          </a:p>
          <a:p>
            <a:pPr algn="l">
              <a:lnSpc>
                <a:spcPts val="1509"/>
              </a:lnSpc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instrumentation panels in marine, offshore,​</a:t>
            </a:r>
          </a:p>
          <a:p>
            <a:pPr algn="l">
              <a:lnSpc>
                <a:spcPts val="1509"/>
              </a:lnSpc>
              <a:spcBef>
                <a:spcPct val="0"/>
              </a:spcBef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and onshore environments.​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74214" y="4496144"/>
            <a:ext cx="2853752" cy="23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PANEL INSTALLATION PROJECTS​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385268" y="8773931"/>
            <a:ext cx="3019527" cy="372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9"/>
              </a:lnSpc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Modernization of legacy systems; upgrade​</a:t>
            </a:r>
          </a:p>
          <a:p>
            <a:pPr algn="l">
              <a:lnSpc>
                <a:spcPts val="1509"/>
              </a:lnSpc>
              <a:spcBef>
                <a:spcPct val="0"/>
              </a:spcBef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of multiple control panels on active sites.​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385268" y="8326572"/>
            <a:ext cx="2853752" cy="23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LARGE-SCALE RETROFIT WORKS​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917024" y="8773931"/>
            <a:ext cx="3019527" cy="372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9"/>
              </a:lnSpc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Installation references spanning Singapore,​</a:t>
            </a:r>
          </a:p>
          <a:p>
            <a:pPr algn="l">
              <a:lnSpc>
                <a:spcPts val="1509"/>
              </a:lnSpc>
              <a:spcBef>
                <a:spcPct val="0"/>
              </a:spcBef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Malaysia, Vietnam, India, and the Middle East.​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17024" y="8322486"/>
            <a:ext cx="2853752" cy="23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MULTINATIONAL SITE PRESENCE​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574214" y="8798419"/>
            <a:ext cx="3367295" cy="563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09"/>
              </a:lnSpc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Pre-installation staging conducted at Apeiron​</a:t>
            </a:r>
          </a:p>
          <a:p>
            <a:pPr algn="l">
              <a:lnSpc>
                <a:spcPts val="1509"/>
              </a:lnSpc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facilities in Singapore and India before site​</a:t>
            </a:r>
          </a:p>
          <a:p>
            <a:pPr algn="l">
              <a:lnSpc>
                <a:spcPts val="1509"/>
              </a:lnSpc>
              <a:spcBef>
                <a:spcPct val="0"/>
              </a:spcBef>
            </a:pPr>
            <a:r>
              <a:rPr lang="en-US" sz="1078">
                <a:solidFill>
                  <a:srgbClr val="606060"/>
                </a:solidFill>
                <a:latin typeface="Open Sans"/>
                <a:ea typeface="Open Sans"/>
                <a:cs typeface="Open Sans"/>
                <a:sym typeface="Open Sans"/>
              </a:rPr>
              <a:t>deployment.​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574214" y="8356499"/>
            <a:ext cx="3562412" cy="232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92"/>
              </a:lnSpc>
            </a:pPr>
            <a:r>
              <a:rPr lang="en-US" sz="1351" b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STAGING AND PRE-ASSEMBLY SUPPORT​</a:t>
            </a:r>
          </a:p>
        </p:txBody>
      </p:sp>
      <p:grpSp>
        <p:nvGrpSpPr>
          <p:cNvPr id="27" name="Group 27"/>
          <p:cNvGrpSpPr/>
          <p:nvPr/>
        </p:nvGrpSpPr>
        <p:grpSpPr>
          <a:xfrm rot="-10800000">
            <a:off x="1910834" y="5089636"/>
            <a:ext cx="243390" cy="94573"/>
            <a:chOff x="0" y="0"/>
            <a:chExt cx="324519" cy="126098"/>
          </a:xfrm>
        </p:grpSpPr>
        <p:sp>
          <p:nvSpPr>
            <p:cNvPr id="28" name="AutoShape 28"/>
            <p:cNvSpPr/>
            <p:nvPr/>
          </p:nvSpPr>
          <p:spPr>
            <a:xfrm>
              <a:off x="0" y="63049"/>
              <a:ext cx="198422" cy="0"/>
            </a:xfrm>
            <a:prstGeom prst="line">
              <a:avLst/>
            </a:prstGeom>
            <a:ln w="21280" cap="flat">
              <a:solidFill>
                <a:srgbClr val="B8B8B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198422" y="0"/>
              <a:ext cx="126098" cy="126098"/>
              <a:chOff x="0" y="0"/>
              <a:chExt cx="59461" cy="59461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8B8B8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32" name="Freeform 32"/>
          <p:cNvSpPr/>
          <p:nvPr/>
        </p:nvSpPr>
        <p:spPr>
          <a:xfrm>
            <a:off x="1941562" y="4515629"/>
            <a:ext cx="181934" cy="135768"/>
          </a:xfrm>
          <a:custGeom>
            <a:avLst/>
            <a:gdLst/>
            <a:ahLst/>
            <a:cxnLst/>
            <a:rect l="l" t="t" r="r" b="b"/>
            <a:pathLst>
              <a:path w="181934" h="135768">
                <a:moveTo>
                  <a:pt x="0" y="0"/>
                </a:moveTo>
                <a:lnTo>
                  <a:pt x="181934" y="0"/>
                </a:lnTo>
                <a:lnTo>
                  <a:pt x="181934" y="135768"/>
                </a:lnTo>
                <a:lnTo>
                  <a:pt x="0" y="1357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3" name="Freeform 33"/>
          <p:cNvSpPr/>
          <p:nvPr/>
        </p:nvSpPr>
        <p:spPr>
          <a:xfrm>
            <a:off x="7448768" y="4558733"/>
            <a:ext cx="181934" cy="135768"/>
          </a:xfrm>
          <a:custGeom>
            <a:avLst/>
            <a:gdLst/>
            <a:ahLst/>
            <a:cxnLst/>
            <a:rect l="l" t="t" r="r" b="b"/>
            <a:pathLst>
              <a:path w="181934" h="135768">
                <a:moveTo>
                  <a:pt x="0" y="0"/>
                </a:moveTo>
                <a:lnTo>
                  <a:pt x="181934" y="0"/>
                </a:lnTo>
                <a:lnTo>
                  <a:pt x="181934" y="135767"/>
                </a:lnTo>
                <a:lnTo>
                  <a:pt x="0" y="135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4" name="Group 34"/>
          <p:cNvGrpSpPr/>
          <p:nvPr/>
        </p:nvGrpSpPr>
        <p:grpSpPr>
          <a:xfrm rot="-10800000">
            <a:off x="7418040" y="5096213"/>
            <a:ext cx="243390" cy="94573"/>
            <a:chOff x="0" y="0"/>
            <a:chExt cx="324519" cy="126098"/>
          </a:xfrm>
        </p:grpSpPr>
        <p:sp>
          <p:nvSpPr>
            <p:cNvPr id="35" name="AutoShape 35"/>
            <p:cNvSpPr/>
            <p:nvPr/>
          </p:nvSpPr>
          <p:spPr>
            <a:xfrm>
              <a:off x="0" y="63049"/>
              <a:ext cx="198422" cy="0"/>
            </a:xfrm>
            <a:prstGeom prst="line">
              <a:avLst/>
            </a:prstGeom>
            <a:ln w="21280" cap="flat">
              <a:solidFill>
                <a:srgbClr val="B8B8B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198422" y="0"/>
              <a:ext cx="126098" cy="126098"/>
              <a:chOff x="0" y="0"/>
              <a:chExt cx="59461" cy="59461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8B8B8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39" name="Freeform 39"/>
          <p:cNvSpPr/>
          <p:nvPr/>
        </p:nvSpPr>
        <p:spPr>
          <a:xfrm>
            <a:off x="13106530" y="4558733"/>
            <a:ext cx="181934" cy="135768"/>
          </a:xfrm>
          <a:custGeom>
            <a:avLst/>
            <a:gdLst/>
            <a:ahLst/>
            <a:cxnLst/>
            <a:rect l="l" t="t" r="r" b="b"/>
            <a:pathLst>
              <a:path w="181934" h="135768">
                <a:moveTo>
                  <a:pt x="0" y="0"/>
                </a:moveTo>
                <a:lnTo>
                  <a:pt x="181934" y="0"/>
                </a:lnTo>
                <a:lnTo>
                  <a:pt x="181934" y="135767"/>
                </a:lnTo>
                <a:lnTo>
                  <a:pt x="0" y="135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0" name="Group 40"/>
          <p:cNvGrpSpPr/>
          <p:nvPr/>
        </p:nvGrpSpPr>
        <p:grpSpPr>
          <a:xfrm rot="-10800000">
            <a:off x="13075802" y="5184886"/>
            <a:ext cx="243390" cy="94573"/>
            <a:chOff x="0" y="0"/>
            <a:chExt cx="324519" cy="126098"/>
          </a:xfrm>
        </p:grpSpPr>
        <p:sp>
          <p:nvSpPr>
            <p:cNvPr id="41" name="AutoShape 41"/>
            <p:cNvSpPr/>
            <p:nvPr/>
          </p:nvSpPr>
          <p:spPr>
            <a:xfrm>
              <a:off x="0" y="63049"/>
              <a:ext cx="198422" cy="0"/>
            </a:xfrm>
            <a:prstGeom prst="line">
              <a:avLst/>
            </a:prstGeom>
            <a:ln w="21280" cap="flat">
              <a:solidFill>
                <a:srgbClr val="B8B8B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198422" y="0"/>
              <a:ext cx="126098" cy="126098"/>
              <a:chOff x="0" y="0"/>
              <a:chExt cx="59461" cy="59461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8B8B8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45" name="Freeform 45"/>
          <p:cNvSpPr/>
          <p:nvPr/>
        </p:nvSpPr>
        <p:spPr>
          <a:xfrm>
            <a:off x="1910834" y="8389161"/>
            <a:ext cx="181934" cy="135768"/>
          </a:xfrm>
          <a:custGeom>
            <a:avLst/>
            <a:gdLst/>
            <a:ahLst/>
            <a:cxnLst/>
            <a:rect l="l" t="t" r="r" b="b"/>
            <a:pathLst>
              <a:path w="181934" h="135768">
                <a:moveTo>
                  <a:pt x="0" y="0"/>
                </a:moveTo>
                <a:lnTo>
                  <a:pt x="181934" y="0"/>
                </a:lnTo>
                <a:lnTo>
                  <a:pt x="181934" y="135767"/>
                </a:lnTo>
                <a:lnTo>
                  <a:pt x="0" y="135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6" name="Group 46"/>
          <p:cNvGrpSpPr/>
          <p:nvPr/>
        </p:nvGrpSpPr>
        <p:grpSpPr>
          <a:xfrm rot="-10800000">
            <a:off x="1910834" y="8922501"/>
            <a:ext cx="243390" cy="94573"/>
            <a:chOff x="0" y="0"/>
            <a:chExt cx="324519" cy="126098"/>
          </a:xfrm>
        </p:grpSpPr>
        <p:sp>
          <p:nvSpPr>
            <p:cNvPr id="47" name="AutoShape 47"/>
            <p:cNvSpPr/>
            <p:nvPr/>
          </p:nvSpPr>
          <p:spPr>
            <a:xfrm>
              <a:off x="0" y="63049"/>
              <a:ext cx="198422" cy="0"/>
            </a:xfrm>
            <a:prstGeom prst="line">
              <a:avLst/>
            </a:prstGeom>
            <a:ln w="21280" cap="flat">
              <a:solidFill>
                <a:srgbClr val="B8B8B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198422" y="0"/>
              <a:ext cx="126098" cy="126098"/>
              <a:chOff x="0" y="0"/>
              <a:chExt cx="59461" cy="59461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8B8B8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51" name="Freeform 51"/>
          <p:cNvSpPr/>
          <p:nvPr/>
        </p:nvSpPr>
        <p:spPr>
          <a:xfrm>
            <a:off x="7448768" y="8385074"/>
            <a:ext cx="181934" cy="135768"/>
          </a:xfrm>
          <a:custGeom>
            <a:avLst/>
            <a:gdLst/>
            <a:ahLst/>
            <a:cxnLst/>
            <a:rect l="l" t="t" r="r" b="b"/>
            <a:pathLst>
              <a:path w="181934" h="135768">
                <a:moveTo>
                  <a:pt x="0" y="0"/>
                </a:moveTo>
                <a:lnTo>
                  <a:pt x="181934" y="0"/>
                </a:lnTo>
                <a:lnTo>
                  <a:pt x="181934" y="135768"/>
                </a:lnTo>
                <a:lnTo>
                  <a:pt x="0" y="1357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2" name="Group 52"/>
          <p:cNvGrpSpPr/>
          <p:nvPr/>
        </p:nvGrpSpPr>
        <p:grpSpPr>
          <a:xfrm rot="-10800000">
            <a:off x="7448768" y="8920892"/>
            <a:ext cx="243390" cy="94573"/>
            <a:chOff x="0" y="0"/>
            <a:chExt cx="324519" cy="126098"/>
          </a:xfrm>
        </p:grpSpPr>
        <p:sp>
          <p:nvSpPr>
            <p:cNvPr id="53" name="AutoShape 53"/>
            <p:cNvSpPr/>
            <p:nvPr/>
          </p:nvSpPr>
          <p:spPr>
            <a:xfrm>
              <a:off x="0" y="63049"/>
              <a:ext cx="198422" cy="0"/>
            </a:xfrm>
            <a:prstGeom prst="line">
              <a:avLst/>
            </a:prstGeom>
            <a:ln w="21280" cap="flat">
              <a:solidFill>
                <a:srgbClr val="B8B8B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198422" y="0"/>
              <a:ext cx="126098" cy="126098"/>
              <a:chOff x="0" y="0"/>
              <a:chExt cx="59461" cy="59461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8B8B8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sp>
        <p:nvSpPr>
          <p:cNvPr id="57" name="Freeform 57"/>
          <p:cNvSpPr/>
          <p:nvPr/>
        </p:nvSpPr>
        <p:spPr>
          <a:xfrm>
            <a:off x="13137258" y="8427261"/>
            <a:ext cx="181934" cy="135768"/>
          </a:xfrm>
          <a:custGeom>
            <a:avLst/>
            <a:gdLst/>
            <a:ahLst/>
            <a:cxnLst/>
            <a:rect l="l" t="t" r="r" b="b"/>
            <a:pathLst>
              <a:path w="181934" h="135768">
                <a:moveTo>
                  <a:pt x="0" y="0"/>
                </a:moveTo>
                <a:lnTo>
                  <a:pt x="181934" y="0"/>
                </a:lnTo>
                <a:lnTo>
                  <a:pt x="181934" y="135767"/>
                </a:lnTo>
                <a:lnTo>
                  <a:pt x="0" y="135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8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0657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8" name="Group 58"/>
          <p:cNvGrpSpPr/>
          <p:nvPr/>
        </p:nvGrpSpPr>
        <p:grpSpPr>
          <a:xfrm rot="-10800000">
            <a:off x="13106530" y="9042239"/>
            <a:ext cx="243390" cy="94573"/>
            <a:chOff x="0" y="0"/>
            <a:chExt cx="324519" cy="126098"/>
          </a:xfrm>
        </p:grpSpPr>
        <p:sp>
          <p:nvSpPr>
            <p:cNvPr id="59" name="AutoShape 59"/>
            <p:cNvSpPr/>
            <p:nvPr/>
          </p:nvSpPr>
          <p:spPr>
            <a:xfrm>
              <a:off x="0" y="63049"/>
              <a:ext cx="198422" cy="0"/>
            </a:xfrm>
            <a:prstGeom prst="line">
              <a:avLst/>
            </a:prstGeom>
            <a:ln w="21280" cap="flat">
              <a:solidFill>
                <a:srgbClr val="B8B8B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198422" y="0"/>
              <a:ext cx="126098" cy="126098"/>
              <a:chOff x="0" y="0"/>
              <a:chExt cx="59461" cy="59461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59461" cy="59461"/>
              </a:xfrm>
              <a:custGeom>
                <a:avLst/>
                <a:gdLst/>
                <a:ahLst/>
                <a:cxnLst/>
                <a:rect l="l" t="t" r="r" b="b"/>
                <a:pathLst>
                  <a:path w="59461" h="59461">
                    <a:moveTo>
                      <a:pt x="0" y="0"/>
                    </a:moveTo>
                    <a:lnTo>
                      <a:pt x="59461" y="0"/>
                    </a:lnTo>
                    <a:lnTo>
                      <a:pt x="59461" y="59461"/>
                    </a:lnTo>
                    <a:lnTo>
                      <a:pt x="0" y="59461"/>
                    </a:lnTo>
                    <a:close/>
                  </a:path>
                </a:pathLst>
              </a:custGeom>
              <a:solidFill>
                <a:srgbClr val="B8B8B8">
                  <a:alpha val="91765"/>
                </a:srgbClr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0" y="0"/>
                <a:ext cx="59461" cy="5946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764"/>
                  </a:lnSpc>
                </a:pPr>
                <a:endParaRPr/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3799164"/>
            <a:ext cx="5457489" cy="146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0"/>
              </a:lnSpc>
            </a:pPr>
            <a:r>
              <a:rPr lang="en-US" sz="5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Site Installation References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5655608"/>
            <a:ext cx="5622035" cy="402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784">
                <a:solidFill>
                  <a:srgbClr val="006F74"/>
                </a:solidFill>
                <a:latin typeface="Open Sans"/>
                <a:ea typeface="Open Sans"/>
                <a:cs typeface="Open Sans"/>
                <a:sym typeface="Open Sans"/>
              </a:rPr>
              <a:t>Retrofit 70 Curing Control Panel​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10122" y="1098839"/>
            <a:ext cx="5637455" cy="29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Project: Retrofit of 70 Curing Control Panels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810122" y="1887409"/>
            <a:ext cx="6314279" cy="59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Detail: Large-scale modernization of 70​ existing curing control panels across a single​ site installation.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10122" y="2963866"/>
            <a:ext cx="6314279" cy="29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Scope: Full Panel Upgrade &amp; Replacement​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10122" y="3659742"/>
            <a:ext cx="5996434" cy="59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Detail: End-to-end retrofit covering hardware​ replacement, rewiring, and control logic​ migration.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10122" y="4689059"/>
            <a:ext cx="6488618" cy="29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Capability: Large-Scale System Integration​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10122" y="5365400"/>
            <a:ext cx="6314279" cy="59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Detail: Demonstrates Apeiron's ability to​ manage high-volume, complex panel retrofit​ projects on-site.​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810122" y="6403757"/>
            <a:ext cx="6314279" cy="29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Execution: Site Commissioning Support​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10122" y="7125405"/>
            <a:ext cx="6488618" cy="59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Detail: On-site engineering team provided​ installation, testing, and commissioning for all​ 70 panels.​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10122" y="8126164"/>
            <a:ext cx="5996434" cy="295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Outcome: Modernized Control Infrastructure​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810122" y="8802505"/>
            <a:ext cx="6642672" cy="59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Detail: Upgraded panels deliver improved​ reliability, safety compliance, and operational​ performance.​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961539" y="1105808"/>
            <a:ext cx="583774" cy="295826"/>
            <a:chOff x="0" y="0"/>
            <a:chExt cx="778365" cy="394434"/>
          </a:xfrm>
        </p:grpSpPr>
        <p:sp>
          <p:nvSpPr>
            <p:cNvPr id="15" name="AutoShape 15"/>
            <p:cNvSpPr/>
            <p:nvPr/>
          </p:nvSpPr>
          <p:spPr>
            <a:xfrm flipH="1" flipV="1">
              <a:off x="272867" y="197217"/>
              <a:ext cx="505497" cy="0"/>
            </a:xfrm>
            <a:prstGeom prst="line">
              <a:avLst/>
            </a:prstGeom>
            <a:ln w="55363" cap="flat">
              <a:solidFill>
                <a:srgbClr val="7CE43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0" y="0"/>
              <a:ext cx="394434" cy="394434"/>
              <a:chOff x="0" y="0"/>
              <a:chExt cx="812800" cy="8128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0433" tIns="30433" rIns="30433" bIns="30433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9" name="Group 19"/>
          <p:cNvGrpSpPr/>
          <p:nvPr/>
        </p:nvGrpSpPr>
        <p:grpSpPr>
          <a:xfrm>
            <a:off x="6961539" y="1960114"/>
            <a:ext cx="583774" cy="295826"/>
            <a:chOff x="0" y="0"/>
            <a:chExt cx="778365" cy="394434"/>
          </a:xfrm>
        </p:grpSpPr>
        <p:sp>
          <p:nvSpPr>
            <p:cNvPr id="20" name="AutoShape 20"/>
            <p:cNvSpPr/>
            <p:nvPr/>
          </p:nvSpPr>
          <p:spPr>
            <a:xfrm flipH="1" flipV="1">
              <a:off x="272867" y="197217"/>
              <a:ext cx="505497" cy="0"/>
            </a:xfrm>
            <a:prstGeom prst="line">
              <a:avLst/>
            </a:prstGeom>
            <a:ln w="55363" cap="flat">
              <a:solidFill>
                <a:srgbClr val="7CE43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0" y="0"/>
              <a:ext cx="394434" cy="394434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0433" tIns="30433" rIns="30433" bIns="30433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24" name="Group 24"/>
          <p:cNvGrpSpPr/>
          <p:nvPr/>
        </p:nvGrpSpPr>
        <p:grpSpPr>
          <a:xfrm>
            <a:off x="6961539" y="2963866"/>
            <a:ext cx="583774" cy="295826"/>
            <a:chOff x="0" y="0"/>
            <a:chExt cx="778365" cy="394434"/>
          </a:xfrm>
        </p:grpSpPr>
        <p:sp>
          <p:nvSpPr>
            <p:cNvPr id="25" name="AutoShape 25"/>
            <p:cNvSpPr/>
            <p:nvPr/>
          </p:nvSpPr>
          <p:spPr>
            <a:xfrm flipH="1" flipV="1">
              <a:off x="272867" y="197217"/>
              <a:ext cx="505497" cy="0"/>
            </a:xfrm>
            <a:prstGeom prst="line">
              <a:avLst/>
            </a:prstGeom>
            <a:ln w="55363" cap="flat">
              <a:solidFill>
                <a:srgbClr val="7CE43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0"/>
              <a:ext cx="394434" cy="394434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0433" tIns="30433" rIns="30433" bIns="30433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29" name="Group 29"/>
          <p:cNvGrpSpPr/>
          <p:nvPr/>
        </p:nvGrpSpPr>
        <p:grpSpPr>
          <a:xfrm>
            <a:off x="6961539" y="3807170"/>
            <a:ext cx="583774" cy="295826"/>
            <a:chOff x="0" y="0"/>
            <a:chExt cx="778365" cy="394434"/>
          </a:xfrm>
        </p:grpSpPr>
        <p:sp>
          <p:nvSpPr>
            <p:cNvPr id="30" name="AutoShape 30"/>
            <p:cNvSpPr/>
            <p:nvPr/>
          </p:nvSpPr>
          <p:spPr>
            <a:xfrm flipH="1" flipV="1">
              <a:off x="272867" y="197217"/>
              <a:ext cx="505497" cy="0"/>
            </a:xfrm>
            <a:prstGeom prst="line">
              <a:avLst/>
            </a:prstGeom>
            <a:ln w="55363" cap="flat">
              <a:solidFill>
                <a:srgbClr val="7CE43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0" y="0"/>
              <a:ext cx="394434" cy="394434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0433" tIns="30433" rIns="30433" bIns="30433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4" name="Group 34"/>
          <p:cNvGrpSpPr/>
          <p:nvPr/>
        </p:nvGrpSpPr>
        <p:grpSpPr>
          <a:xfrm>
            <a:off x="6961539" y="4688574"/>
            <a:ext cx="583774" cy="295826"/>
            <a:chOff x="0" y="0"/>
            <a:chExt cx="778365" cy="394434"/>
          </a:xfrm>
        </p:grpSpPr>
        <p:sp>
          <p:nvSpPr>
            <p:cNvPr id="35" name="AutoShape 35"/>
            <p:cNvSpPr/>
            <p:nvPr/>
          </p:nvSpPr>
          <p:spPr>
            <a:xfrm flipH="1" flipV="1">
              <a:off x="272867" y="197217"/>
              <a:ext cx="505497" cy="0"/>
            </a:xfrm>
            <a:prstGeom prst="line">
              <a:avLst/>
            </a:prstGeom>
            <a:ln w="55363" cap="flat">
              <a:solidFill>
                <a:srgbClr val="7CE43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0" y="0"/>
              <a:ext cx="394434" cy="394434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0433" tIns="30433" rIns="30433" bIns="30433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6961539" y="5527391"/>
            <a:ext cx="583774" cy="295826"/>
            <a:chOff x="0" y="0"/>
            <a:chExt cx="778365" cy="394434"/>
          </a:xfrm>
        </p:grpSpPr>
        <p:sp>
          <p:nvSpPr>
            <p:cNvPr id="40" name="AutoShape 40"/>
            <p:cNvSpPr/>
            <p:nvPr/>
          </p:nvSpPr>
          <p:spPr>
            <a:xfrm flipH="1" flipV="1">
              <a:off x="272867" y="197217"/>
              <a:ext cx="505497" cy="0"/>
            </a:xfrm>
            <a:prstGeom prst="line">
              <a:avLst/>
            </a:prstGeom>
            <a:ln w="55363" cap="flat">
              <a:solidFill>
                <a:srgbClr val="7CE43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0" y="0"/>
              <a:ext cx="394434" cy="394434"/>
              <a:chOff x="0" y="0"/>
              <a:chExt cx="812800" cy="812800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0433" tIns="30433" rIns="30433" bIns="30433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6961539" y="6413332"/>
            <a:ext cx="583774" cy="295826"/>
            <a:chOff x="0" y="0"/>
            <a:chExt cx="778365" cy="394434"/>
          </a:xfrm>
        </p:grpSpPr>
        <p:sp>
          <p:nvSpPr>
            <p:cNvPr id="45" name="AutoShape 45"/>
            <p:cNvSpPr/>
            <p:nvPr/>
          </p:nvSpPr>
          <p:spPr>
            <a:xfrm flipH="1" flipV="1">
              <a:off x="272867" y="197217"/>
              <a:ext cx="505497" cy="0"/>
            </a:xfrm>
            <a:prstGeom prst="line">
              <a:avLst/>
            </a:prstGeom>
            <a:ln w="55363" cap="flat">
              <a:solidFill>
                <a:srgbClr val="7CE43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0" y="0"/>
              <a:ext cx="394434" cy="394434"/>
              <a:chOff x="0" y="0"/>
              <a:chExt cx="812800" cy="81280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0433" tIns="30433" rIns="30433" bIns="30433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6961539" y="7270041"/>
            <a:ext cx="583774" cy="295826"/>
            <a:chOff x="0" y="0"/>
            <a:chExt cx="778365" cy="394434"/>
          </a:xfrm>
        </p:grpSpPr>
        <p:sp>
          <p:nvSpPr>
            <p:cNvPr id="50" name="AutoShape 50"/>
            <p:cNvSpPr/>
            <p:nvPr/>
          </p:nvSpPr>
          <p:spPr>
            <a:xfrm flipH="1" flipV="1">
              <a:off x="272867" y="197217"/>
              <a:ext cx="505497" cy="0"/>
            </a:xfrm>
            <a:prstGeom prst="line">
              <a:avLst/>
            </a:prstGeom>
            <a:ln w="55363" cap="flat">
              <a:solidFill>
                <a:srgbClr val="7CE43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0" y="0"/>
              <a:ext cx="394434" cy="394434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0433" tIns="30433" rIns="30433" bIns="30433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6961539" y="8116137"/>
            <a:ext cx="583774" cy="295826"/>
            <a:chOff x="0" y="0"/>
            <a:chExt cx="778365" cy="394434"/>
          </a:xfrm>
        </p:grpSpPr>
        <p:sp>
          <p:nvSpPr>
            <p:cNvPr id="55" name="AutoShape 55"/>
            <p:cNvSpPr/>
            <p:nvPr/>
          </p:nvSpPr>
          <p:spPr>
            <a:xfrm flipH="1" flipV="1">
              <a:off x="272867" y="197217"/>
              <a:ext cx="505497" cy="0"/>
            </a:xfrm>
            <a:prstGeom prst="line">
              <a:avLst/>
            </a:prstGeom>
            <a:ln w="55363" cap="flat">
              <a:solidFill>
                <a:srgbClr val="7CE43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0" y="0"/>
              <a:ext cx="394434" cy="394434"/>
              <a:chOff x="0" y="0"/>
              <a:chExt cx="812800" cy="8128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0433" tIns="30433" rIns="30433" bIns="30433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6961539" y="8949933"/>
            <a:ext cx="583774" cy="295826"/>
            <a:chOff x="0" y="0"/>
            <a:chExt cx="778365" cy="394434"/>
          </a:xfrm>
        </p:grpSpPr>
        <p:sp>
          <p:nvSpPr>
            <p:cNvPr id="60" name="AutoShape 60"/>
            <p:cNvSpPr/>
            <p:nvPr/>
          </p:nvSpPr>
          <p:spPr>
            <a:xfrm flipH="1" flipV="1">
              <a:off x="272867" y="197217"/>
              <a:ext cx="505497" cy="0"/>
            </a:xfrm>
            <a:prstGeom prst="line">
              <a:avLst/>
            </a:prstGeom>
            <a:ln w="55363" cap="flat">
              <a:solidFill>
                <a:srgbClr val="7CE438">
                  <a:alpha val="91765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IN"/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0" y="0"/>
              <a:ext cx="394434" cy="394434"/>
              <a:chOff x="0" y="0"/>
              <a:chExt cx="812800" cy="812800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30433" tIns="30433" rIns="30433" bIns="30433" rtlCol="0" anchor="ctr"/>
              <a:lstStyle/>
              <a:p>
                <a:pPr marL="0" lvl="0" indent="0" algn="ctr">
                  <a:lnSpc>
                    <a:spcPts val="252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14555777" y="963952"/>
            <a:ext cx="3165341" cy="2653569"/>
            <a:chOff x="0" y="0"/>
            <a:chExt cx="7574672" cy="63500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574672" cy="6350000"/>
            </a:xfrm>
            <a:custGeom>
              <a:avLst/>
              <a:gdLst/>
              <a:ahLst/>
              <a:cxnLst/>
              <a:rect l="l" t="t" r="r" b="b"/>
              <a:pathLst>
                <a:path w="7574672" h="6350000">
                  <a:moveTo>
                    <a:pt x="6817205" y="6350000"/>
                  </a:moveTo>
                  <a:lnTo>
                    <a:pt x="757467" y="6350000"/>
                  </a:lnTo>
                  <a:cubicBezTo>
                    <a:pt x="339345" y="6350000"/>
                    <a:pt x="0" y="6065520"/>
                    <a:pt x="0" y="5715000"/>
                  </a:cubicBezTo>
                  <a:lnTo>
                    <a:pt x="0" y="635000"/>
                  </a:lnTo>
                  <a:cubicBezTo>
                    <a:pt x="0" y="284480"/>
                    <a:pt x="339345" y="0"/>
                    <a:pt x="757467" y="0"/>
                  </a:cubicBezTo>
                  <a:lnTo>
                    <a:pt x="6817205" y="0"/>
                  </a:lnTo>
                  <a:cubicBezTo>
                    <a:pt x="7235327" y="0"/>
                    <a:pt x="7574672" y="284480"/>
                    <a:pt x="7574672" y="635000"/>
                  </a:cubicBezTo>
                  <a:lnTo>
                    <a:pt x="7574672" y="5715000"/>
                  </a:lnTo>
                  <a:cubicBezTo>
                    <a:pt x="7574672" y="6065520"/>
                    <a:pt x="7235327" y="6350000"/>
                    <a:pt x="6817205" y="6350000"/>
                  </a:cubicBezTo>
                  <a:close/>
                </a:path>
              </a:pathLst>
            </a:custGeom>
            <a:blipFill>
              <a:blip r:embed="rId2"/>
              <a:stretch>
                <a:fillRect t="-4475" b="-4475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4555777" y="3940900"/>
            <a:ext cx="3165341" cy="2610225"/>
            <a:chOff x="0" y="0"/>
            <a:chExt cx="7700452" cy="635000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700452" cy="6350000"/>
            </a:xfrm>
            <a:custGeom>
              <a:avLst/>
              <a:gdLst/>
              <a:ahLst/>
              <a:cxnLst/>
              <a:rect l="l" t="t" r="r" b="b"/>
              <a:pathLst>
                <a:path w="7700452" h="6350000">
                  <a:moveTo>
                    <a:pt x="6930407" y="6350000"/>
                  </a:moveTo>
                  <a:lnTo>
                    <a:pt x="770045" y="6350000"/>
                  </a:lnTo>
                  <a:cubicBezTo>
                    <a:pt x="344980" y="6350000"/>
                    <a:pt x="0" y="6065520"/>
                    <a:pt x="0" y="5715000"/>
                  </a:cubicBezTo>
                  <a:lnTo>
                    <a:pt x="0" y="635000"/>
                  </a:lnTo>
                  <a:cubicBezTo>
                    <a:pt x="0" y="284480"/>
                    <a:pt x="344980" y="0"/>
                    <a:pt x="770045" y="0"/>
                  </a:cubicBezTo>
                  <a:lnTo>
                    <a:pt x="6930407" y="0"/>
                  </a:lnTo>
                  <a:cubicBezTo>
                    <a:pt x="7355472" y="0"/>
                    <a:pt x="7700452" y="284480"/>
                    <a:pt x="7700452" y="635000"/>
                  </a:cubicBezTo>
                  <a:lnTo>
                    <a:pt x="7700452" y="5715000"/>
                  </a:lnTo>
                  <a:cubicBezTo>
                    <a:pt x="7700452" y="6065520"/>
                    <a:pt x="7355472" y="6350000"/>
                    <a:pt x="6930407" y="6350000"/>
                  </a:cubicBezTo>
                  <a:close/>
                </a:path>
              </a:pathLst>
            </a:custGeom>
            <a:blipFill>
              <a:blip r:embed="rId3"/>
              <a:stretch>
                <a:fillRect t="-24344" b="-2434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4555777" y="6814399"/>
            <a:ext cx="3216213" cy="2696216"/>
            <a:chOff x="0" y="0"/>
            <a:chExt cx="7574672" cy="635000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7574672" cy="6350000"/>
            </a:xfrm>
            <a:custGeom>
              <a:avLst/>
              <a:gdLst/>
              <a:ahLst/>
              <a:cxnLst/>
              <a:rect l="l" t="t" r="r" b="b"/>
              <a:pathLst>
                <a:path w="7574672" h="6350000">
                  <a:moveTo>
                    <a:pt x="6817205" y="6350000"/>
                  </a:moveTo>
                  <a:lnTo>
                    <a:pt x="757467" y="6350000"/>
                  </a:lnTo>
                  <a:cubicBezTo>
                    <a:pt x="339345" y="6350000"/>
                    <a:pt x="0" y="6065520"/>
                    <a:pt x="0" y="5715000"/>
                  </a:cubicBezTo>
                  <a:lnTo>
                    <a:pt x="0" y="635000"/>
                  </a:lnTo>
                  <a:cubicBezTo>
                    <a:pt x="0" y="284480"/>
                    <a:pt x="339345" y="0"/>
                    <a:pt x="757467" y="0"/>
                  </a:cubicBezTo>
                  <a:lnTo>
                    <a:pt x="6817205" y="0"/>
                  </a:lnTo>
                  <a:cubicBezTo>
                    <a:pt x="7235327" y="0"/>
                    <a:pt x="7574672" y="284480"/>
                    <a:pt x="7574672" y="635000"/>
                  </a:cubicBezTo>
                  <a:lnTo>
                    <a:pt x="7574672" y="5715000"/>
                  </a:lnTo>
                  <a:cubicBezTo>
                    <a:pt x="7574672" y="6065520"/>
                    <a:pt x="7235327" y="6350000"/>
                    <a:pt x="6817205" y="6350000"/>
                  </a:cubicBezTo>
                  <a:close/>
                </a:path>
              </a:pathLst>
            </a:custGeom>
            <a:blipFill>
              <a:blip r:embed="rId4"/>
              <a:stretch>
                <a:fillRect t="-29124" b="-2912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847719" y="1722379"/>
            <a:ext cx="0" cy="6502473"/>
          </a:xfrm>
          <a:prstGeom prst="line">
            <a:avLst/>
          </a:prstGeom>
          <a:ln w="19050" cap="flat">
            <a:solidFill>
              <a:srgbClr val="7ED95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8476369" y="1878409"/>
            <a:ext cx="4205172" cy="6244300"/>
          </a:xfrm>
          <a:custGeom>
            <a:avLst/>
            <a:gdLst/>
            <a:ahLst/>
            <a:cxnLst/>
            <a:rect l="l" t="t" r="r" b="b"/>
            <a:pathLst>
              <a:path w="4205172" h="6244300">
                <a:moveTo>
                  <a:pt x="0" y="0"/>
                </a:moveTo>
                <a:lnTo>
                  <a:pt x="4205172" y="0"/>
                </a:lnTo>
                <a:lnTo>
                  <a:pt x="4205172" y="6244300"/>
                </a:lnTo>
                <a:lnTo>
                  <a:pt x="0" y="6244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3590777" y="1878409"/>
            <a:ext cx="4066423" cy="6244300"/>
          </a:xfrm>
          <a:custGeom>
            <a:avLst/>
            <a:gdLst/>
            <a:ahLst/>
            <a:cxnLst/>
            <a:rect l="l" t="t" r="r" b="b"/>
            <a:pathLst>
              <a:path w="4066423" h="6244300">
                <a:moveTo>
                  <a:pt x="0" y="0"/>
                </a:moveTo>
                <a:lnTo>
                  <a:pt x="4066423" y="0"/>
                </a:lnTo>
                <a:lnTo>
                  <a:pt x="4066423" y="6244300"/>
                </a:lnTo>
                <a:lnTo>
                  <a:pt x="0" y="6244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378" r="-5034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IN"/>
          </a:p>
        </p:txBody>
      </p:sp>
      <p:sp>
        <p:nvSpPr>
          <p:cNvPr id="5" name="Freeform 5"/>
          <p:cNvSpPr/>
          <p:nvPr/>
        </p:nvSpPr>
        <p:spPr>
          <a:xfrm>
            <a:off x="8476369" y="1878409"/>
            <a:ext cx="4205172" cy="6238442"/>
          </a:xfrm>
          <a:custGeom>
            <a:avLst/>
            <a:gdLst/>
            <a:ahLst/>
            <a:cxnLst/>
            <a:rect l="l" t="t" r="r" b="b"/>
            <a:pathLst>
              <a:path w="4205172" h="6238442">
                <a:moveTo>
                  <a:pt x="0" y="0"/>
                </a:moveTo>
                <a:lnTo>
                  <a:pt x="4205172" y="0"/>
                </a:lnTo>
                <a:lnTo>
                  <a:pt x="4205172" y="6238442"/>
                </a:lnTo>
                <a:lnTo>
                  <a:pt x="0" y="62384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28700" y="3889252"/>
            <a:ext cx="4745873" cy="229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1"/>
              </a:lnSpc>
            </a:pPr>
            <a:r>
              <a:rPr lang="en-US" sz="5199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Certification: ISO 9001 &amp; </a:t>
            </a:r>
          </a:p>
          <a:p>
            <a:pPr algn="l">
              <a:lnSpc>
                <a:spcPts val="6031"/>
              </a:lnSpc>
            </a:pPr>
            <a:r>
              <a:rPr lang="en-US" sz="5199" spc="24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ISO 45001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00799" y="8395479"/>
            <a:ext cx="335631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ISO 9001:2015 Certificate​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153735" y="8395479"/>
            <a:ext cx="3356311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"/>
              </a:lnSpc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ISO 45001:2018 Certificate​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465236"/>
            <a:ext cx="3026610" cy="563464"/>
            <a:chOff x="0" y="0"/>
            <a:chExt cx="4035480" cy="7512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80568" cy="751285"/>
            </a:xfrm>
            <a:custGeom>
              <a:avLst/>
              <a:gdLst/>
              <a:ahLst/>
              <a:cxnLst/>
              <a:rect l="l" t="t" r="r" b="b"/>
              <a:pathLst>
                <a:path w="1480568" h="751285">
                  <a:moveTo>
                    <a:pt x="0" y="0"/>
                  </a:moveTo>
                  <a:lnTo>
                    <a:pt x="1480568" y="0"/>
                  </a:lnTo>
                  <a:lnTo>
                    <a:pt x="1480568" y="751285"/>
                  </a:lnTo>
                  <a:lnTo>
                    <a:pt x="0" y="7512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206758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4301" y="46961"/>
              <a:ext cx="2391179" cy="6320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014"/>
                </a:lnSpc>
                <a:spcBef>
                  <a:spcPct val="0"/>
                </a:spcBef>
              </a:pPr>
              <a:r>
                <a:rPr lang="en-US" sz="2909" spc="8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Apeiron 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C2EFB5F-A917-D548-AC04-2996F925B8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E196115-C8A6-D7F9-CC77-ADD796A65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" y="643"/>
            <a:ext cx="18285714" cy="102857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1794</Words>
  <Application>Microsoft Office PowerPoint</Application>
  <PresentationFormat>Personalizar</PresentationFormat>
  <Paragraphs>306</Paragraphs>
  <Slides>23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23</vt:i4>
      </vt:variant>
    </vt:vector>
  </HeadingPairs>
  <TitlesOfParts>
    <vt:vector size="30" baseType="lpstr">
      <vt:lpstr>Open Sans Bold</vt:lpstr>
      <vt:lpstr>Open Sans</vt:lpstr>
      <vt:lpstr>Noto Sans Osage</vt:lpstr>
      <vt:lpstr>Open Sans Semi-Bold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Engineering Excellence with Uncompromising Safety - V.2</dc:title>
  <dc:creator>Lucas Martins Rocha</dc:creator>
  <cp:lastModifiedBy>Lucas Martins Rocha</cp:lastModifiedBy>
  <cp:revision>2</cp:revision>
  <dcterms:created xsi:type="dcterms:W3CDTF">2006-08-16T00:00:00Z</dcterms:created>
  <dcterms:modified xsi:type="dcterms:W3CDTF">2026-03-19T17:06:45Z</dcterms:modified>
  <dc:identifier>DAHEE2OMUcI</dc:identifier>
</cp:coreProperties>
</file>